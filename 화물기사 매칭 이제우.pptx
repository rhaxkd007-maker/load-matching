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2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XGBoost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모델 성능 지표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Train AUC</c:v>
                </c:pt>
                <c:pt idx="1">
                  <c:v>Validation AUC</c:v>
                </c:pt>
                <c:pt idx="2">
                  <c:v>Validation Accuracy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0.99985000000000002</c:v>
                </c:pt>
                <c:pt idx="1">
                  <c:v>0.99975999999999998</c:v>
                </c:pt>
                <c:pt idx="2">
                  <c:v>0.99490000000000001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AF-4D91-9D05-C04D20BA3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/>
        </p:nvSpPr>
        <p:spPr bwMode="gray">
          <a:xfrm>
            <a:off x="8545286" y="5873326"/>
            <a:ext cx="598714" cy="987315"/>
          </a:xfrm>
          <a:custGeom>
            <a:avLst/>
            <a:gdLst>
              <a:gd name="connsiteX0" fmla="*/ 587828 w 598714"/>
              <a:gd name="connsiteY0" fmla="*/ 0 h 979714"/>
              <a:gd name="connsiteX1" fmla="*/ 598714 w 598714"/>
              <a:gd name="connsiteY1" fmla="*/ 979714 h 979714"/>
              <a:gd name="connsiteX2" fmla="*/ 174171 w 598714"/>
              <a:gd name="connsiteY2" fmla="*/ 968828 h 979714"/>
              <a:gd name="connsiteX3" fmla="*/ 0 w 598714"/>
              <a:gd name="connsiteY3" fmla="*/ 185057 h 979714"/>
              <a:gd name="connsiteX4" fmla="*/ 587828 w 598714"/>
              <a:gd name="connsiteY4" fmla="*/ 0 h 979714"/>
              <a:gd name="connsiteX0" fmla="*/ 595944 w 598714"/>
              <a:gd name="connsiteY0" fmla="*/ 0 h 984674"/>
              <a:gd name="connsiteX1" fmla="*/ 598714 w 598714"/>
              <a:gd name="connsiteY1" fmla="*/ 984674 h 984674"/>
              <a:gd name="connsiteX2" fmla="*/ 174171 w 598714"/>
              <a:gd name="connsiteY2" fmla="*/ 973788 h 984674"/>
              <a:gd name="connsiteX3" fmla="*/ 0 w 598714"/>
              <a:gd name="connsiteY3" fmla="*/ 190017 h 984674"/>
              <a:gd name="connsiteX4" fmla="*/ 595944 w 598714"/>
              <a:gd name="connsiteY4" fmla="*/ 0 h 984674"/>
              <a:gd name="connsiteX0" fmla="*/ 595944 w 598714"/>
              <a:gd name="connsiteY0" fmla="*/ 0 h 987315"/>
              <a:gd name="connsiteX1" fmla="*/ 598714 w 598714"/>
              <a:gd name="connsiteY1" fmla="*/ 984674 h 987315"/>
              <a:gd name="connsiteX2" fmla="*/ 179582 w 598714"/>
              <a:gd name="connsiteY2" fmla="*/ 987315 h 987315"/>
              <a:gd name="connsiteX3" fmla="*/ 0 w 598714"/>
              <a:gd name="connsiteY3" fmla="*/ 190017 h 987315"/>
              <a:gd name="connsiteX4" fmla="*/ 595944 w 598714"/>
              <a:gd name="connsiteY4" fmla="*/ 0 h 98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714" h="987315">
                <a:moveTo>
                  <a:pt x="595944" y="0"/>
                </a:moveTo>
                <a:cubicBezTo>
                  <a:pt x="596867" y="328225"/>
                  <a:pt x="597791" y="656449"/>
                  <a:pt x="598714" y="984674"/>
                </a:cubicBezTo>
                <a:lnTo>
                  <a:pt x="179582" y="987315"/>
                </a:lnTo>
                <a:lnTo>
                  <a:pt x="0" y="190017"/>
                </a:lnTo>
                <a:lnTo>
                  <a:pt x="595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 bwMode="gray">
          <a:xfrm>
            <a:off x="7805057" y="2677886"/>
            <a:ext cx="1342507" cy="3298371"/>
          </a:xfrm>
          <a:custGeom>
            <a:avLst/>
            <a:gdLst>
              <a:gd name="connsiteX0" fmla="*/ 0 w 1338943"/>
              <a:gd name="connsiteY0" fmla="*/ 206828 h 3298371"/>
              <a:gd name="connsiteX1" fmla="*/ 1338943 w 1338943"/>
              <a:gd name="connsiteY1" fmla="*/ 0 h 3298371"/>
              <a:gd name="connsiteX2" fmla="*/ 1328057 w 1338943"/>
              <a:gd name="connsiteY2" fmla="*/ 3102428 h 3298371"/>
              <a:gd name="connsiteX3" fmla="*/ 718457 w 1338943"/>
              <a:gd name="connsiteY3" fmla="*/ 3298371 h 3298371"/>
              <a:gd name="connsiteX4" fmla="*/ 0 w 1338943"/>
              <a:gd name="connsiteY4" fmla="*/ 206828 h 3298371"/>
              <a:gd name="connsiteX0" fmla="*/ 0 w 1342507"/>
              <a:gd name="connsiteY0" fmla="*/ 206828 h 3298371"/>
              <a:gd name="connsiteX1" fmla="*/ 1338943 w 1342507"/>
              <a:gd name="connsiteY1" fmla="*/ 0 h 3298371"/>
              <a:gd name="connsiteX2" fmla="*/ 1338878 w 1342507"/>
              <a:gd name="connsiteY2" fmla="*/ 3097919 h 3298371"/>
              <a:gd name="connsiteX3" fmla="*/ 718457 w 1342507"/>
              <a:gd name="connsiteY3" fmla="*/ 3298371 h 3298371"/>
              <a:gd name="connsiteX4" fmla="*/ 0 w 1342507"/>
              <a:gd name="connsiteY4" fmla="*/ 206828 h 329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507" h="3298371">
                <a:moveTo>
                  <a:pt x="0" y="206828"/>
                </a:moveTo>
                <a:lnTo>
                  <a:pt x="1338943" y="0"/>
                </a:lnTo>
                <a:cubicBezTo>
                  <a:pt x="1335314" y="1034143"/>
                  <a:pt x="1342507" y="2063776"/>
                  <a:pt x="1338878" y="3097919"/>
                </a:cubicBezTo>
                <a:lnTo>
                  <a:pt x="718457" y="3298371"/>
                </a:lnTo>
                <a:lnTo>
                  <a:pt x="0" y="20682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 bwMode="gray">
          <a:xfrm>
            <a:off x="-10886" y="2917371"/>
            <a:ext cx="8632372" cy="3940629"/>
          </a:xfrm>
          <a:custGeom>
            <a:avLst/>
            <a:gdLst>
              <a:gd name="connsiteX0" fmla="*/ 0 w 8632372"/>
              <a:gd name="connsiteY0" fmla="*/ 3940629 h 3940629"/>
              <a:gd name="connsiteX1" fmla="*/ 2732315 w 8632372"/>
              <a:gd name="connsiteY1" fmla="*/ 783772 h 3940629"/>
              <a:gd name="connsiteX2" fmla="*/ 7696200 w 8632372"/>
              <a:gd name="connsiteY2" fmla="*/ 0 h 3940629"/>
              <a:gd name="connsiteX3" fmla="*/ 8632372 w 8632372"/>
              <a:gd name="connsiteY3" fmla="*/ 3940629 h 3940629"/>
              <a:gd name="connsiteX4" fmla="*/ 0 w 8632372"/>
              <a:gd name="connsiteY4" fmla="*/ 3940629 h 394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2372" h="3940629">
                <a:moveTo>
                  <a:pt x="0" y="3940629"/>
                </a:moveTo>
                <a:lnTo>
                  <a:pt x="2732315" y="783772"/>
                </a:lnTo>
                <a:lnTo>
                  <a:pt x="7696200" y="0"/>
                </a:lnTo>
                <a:lnTo>
                  <a:pt x="8632372" y="3940629"/>
                </a:lnTo>
                <a:lnTo>
                  <a:pt x="0" y="3940629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649224" y="6419088"/>
            <a:ext cx="784555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8668512" y="6419088"/>
            <a:ext cx="475488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8"/>
          <p:cNvSpPr/>
          <p:nvPr/>
        </p:nvSpPr>
        <p:spPr bwMode="gray">
          <a:xfrm>
            <a:off x="1772575" y="0"/>
            <a:ext cx="1310936" cy="1115627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936" h="1115627">
                <a:moveTo>
                  <a:pt x="0" y="0"/>
                </a:moveTo>
                <a:lnTo>
                  <a:pt x="435006" y="1115627"/>
                </a:lnTo>
                <a:lnTo>
                  <a:pt x="1310936" y="645111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 bwMode="gray">
          <a:xfrm>
            <a:off x="-5918" y="0"/>
            <a:ext cx="2019775" cy="1452979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 bwMode="gray">
          <a:xfrm>
            <a:off x="-3132" y="895611"/>
            <a:ext cx="2156565" cy="1399784"/>
          </a:xfrm>
          <a:custGeom>
            <a:avLst/>
            <a:gdLst>
              <a:gd name="connsiteX0" fmla="*/ 2048006 w 2148214"/>
              <a:gd name="connsiteY0" fmla="*/ 0 h 1399784"/>
              <a:gd name="connsiteX1" fmla="*/ 2148214 w 2148214"/>
              <a:gd name="connsiteY1" fmla="*/ 253652 h 1399784"/>
              <a:gd name="connsiteX2" fmla="*/ 0 w 2148214"/>
              <a:gd name="connsiteY2" fmla="*/ 1399784 h 1399784"/>
              <a:gd name="connsiteX3" fmla="*/ 0 w 2148214"/>
              <a:gd name="connsiteY3" fmla="*/ 676405 h 1399784"/>
              <a:gd name="connsiteX4" fmla="*/ 2048006 w 2148214"/>
              <a:gd name="connsiteY4" fmla="*/ 0 h 1399784"/>
              <a:gd name="connsiteX0" fmla="*/ 2048006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48006 w 2156565"/>
              <a:gd name="connsiteY4" fmla="*/ 0 h 1399784"/>
              <a:gd name="connsiteX0" fmla="*/ 2060532 w 2156565"/>
              <a:gd name="connsiteY0" fmla="*/ 0 h 1399784"/>
              <a:gd name="connsiteX1" fmla="*/ 2156565 w 2156565"/>
              <a:gd name="connsiteY1" fmla="*/ 247389 h 1399784"/>
              <a:gd name="connsiteX2" fmla="*/ 0 w 2156565"/>
              <a:gd name="connsiteY2" fmla="*/ 1399784 h 1399784"/>
              <a:gd name="connsiteX3" fmla="*/ 0 w 2156565"/>
              <a:gd name="connsiteY3" fmla="*/ 676405 h 1399784"/>
              <a:gd name="connsiteX4" fmla="*/ 2060532 w 2156565"/>
              <a:gd name="connsiteY4" fmla="*/ 0 h 1399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6565" h="1399784">
                <a:moveTo>
                  <a:pt x="2060532" y="0"/>
                </a:moveTo>
                <a:lnTo>
                  <a:pt x="2156565" y="247389"/>
                </a:lnTo>
                <a:lnTo>
                  <a:pt x="0" y="1399784"/>
                </a:lnTo>
                <a:lnTo>
                  <a:pt x="0" y="676405"/>
                </a:lnTo>
                <a:lnTo>
                  <a:pt x="206053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xfrm>
            <a:off x="36576" y="36576"/>
            <a:ext cx="185623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18" name="Oval 17"/>
          <p:cNvSpPr/>
          <p:nvPr/>
        </p:nvSpPr>
        <p:spPr bwMode="gray">
          <a:xfrm>
            <a:off x="7589520" y="283464"/>
            <a:ext cx="283464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 bwMode="gray">
          <a:xfrm>
            <a:off x="8046720" y="283464"/>
            <a:ext cx="283464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 bwMode="gray">
          <a:xfrm>
            <a:off x="8503920" y="283464"/>
            <a:ext cx="283464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676656" y="1755648"/>
            <a:ext cx="7772400" cy="1069848"/>
          </a:xfrm>
        </p:spPr>
        <p:txBody>
          <a:bodyPr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676656" y="2834640"/>
            <a:ext cx="6437376" cy="59436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0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09728"/>
            <a:ext cx="5943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7048"/>
            <a:ext cx="8229600" cy="459943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 bwMode="gray">
          <a:xfrm>
            <a:off x="3017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7589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12161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76352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80924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85496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3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3438144"/>
            <a:ext cx="7735824" cy="135293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2029968" y="1929384"/>
            <a:ext cx="6419088" cy="1499616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 bwMode="gray">
          <a:xfrm>
            <a:off x="758952" y="3099816"/>
            <a:ext cx="283464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1216152" y="3099816"/>
            <a:ext cx="283464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1673352" y="3099816"/>
            <a:ext cx="283464" cy="283464"/>
          </a:xfrm>
          <a:prstGeom prst="ellipse">
            <a:avLst/>
          </a:prstGeom>
          <a:noFill/>
          <a:ln w="57150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3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616" y="73152"/>
            <a:ext cx="6144768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3017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7589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12161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76352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80924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 bwMode="gray">
          <a:xfrm>
            <a:off x="85496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69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48056" y="1426464"/>
            <a:ext cx="4041648" cy="786384"/>
          </a:xfrm>
        </p:spPr>
        <p:txBody>
          <a:bodyPr anchor="b"/>
          <a:lstStyle>
            <a:lvl1pPr marL="0" indent="0">
              <a:buFont typeface="Arial" pitchFamily="34" charset="0"/>
              <a:buNone/>
              <a:defRPr sz="2400" b="1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056" y="2240280"/>
            <a:ext cx="4050792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599432" y="1426464"/>
            <a:ext cx="4041648" cy="786384"/>
          </a:xfrm>
        </p:spPr>
        <p:txBody>
          <a:bodyPr anchor="b"/>
          <a:lstStyle>
            <a:lvl1pPr marL="0" indent="0">
              <a:buNone/>
              <a:defRPr sz="2400" b="1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9432" y="2240280"/>
            <a:ext cx="4050792" cy="37764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3017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7589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 bwMode="gray">
          <a:xfrm>
            <a:off x="80924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 bwMode="gray">
          <a:xfrm>
            <a:off x="85496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73152"/>
            <a:ext cx="700430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9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09728"/>
            <a:ext cx="7004304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/>
          <p:cNvSpPr/>
          <p:nvPr/>
        </p:nvSpPr>
        <p:spPr bwMode="gray">
          <a:xfrm>
            <a:off x="3017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 bwMode="gray">
          <a:xfrm>
            <a:off x="7589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80924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85496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42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3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gray">
          <a:xfrm>
            <a:off x="-5918" y="0"/>
            <a:ext cx="2404872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575303" y="411480"/>
            <a:ext cx="5148072" cy="1162050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64208"/>
            <a:ext cx="5111750" cy="47000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640080" y="1664208"/>
            <a:ext cx="2825496" cy="4690872"/>
          </a:xfrm>
          <a:solidFill>
            <a:schemeClr val="accent6">
              <a:lumMod val="60000"/>
              <a:lumOff val="40000"/>
            </a:schemeClr>
          </a:solidFill>
          <a:effectLst>
            <a:outerShdw blurRad="50800" dist="38100" dir="54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2257" y="6583680"/>
            <a:ext cx="2133600" cy="2286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19400" y="6583680"/>
            <a:ext cx="50292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2258568" y="1161288"/>
            <a:ext cx="283464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2715768" y="1161288"/>
            <a:ext cx="283464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 bwMode="gray">
          <a:xfrm>
            <a:off x="3172968" y="1161288"/>
            <a:ext cx="283464" cy="283464"/>
          </a:xfrm>
          <a:prstGeom prst="ellipse">
            <a:avLst/>
          </a:prstGeom>
          <a:noFill/>
          <a:ln w="57150">
            <a:solidFill>
              <a:srgbClr val="C1C1C1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3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859536" y="502920"/>
            <a:ext cx="7653528" cy="566928"/>
          </a:xfrm>
        </p:spPr>
        <p:txBody>
          <a:bodyPr anchor="ctr">
            <a:normAutofit/>
          </a:bodyPr>
          <a:lstStyle>
            <a:lvl1pPr algn="l">
              <a:defRPr sz="2800" b="1">
                <a:solidFill>
                  <a:schemeClr val="tx2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59536" y="1170432"/>
            <a:ext cx="7644384" cy="4114800"/>
          </a:xfrm>
          <a:solidFill>
            <a:schemeClr val="accent6">
              <a:lumMod val="20000"/>
              <a:lumOff val="8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black">
          <a:xfrm>
            <a:off x="859536" y="5385816"/>
            <a:ext cx="7653528" cy="78638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466344" y="658368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466344" y="5440680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616" y="128016"/>
            <a:ext cx="6144768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7048"/>
            <a:ext cx="8229600" cy="459943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 bwMode="gray">
          <a:xfrm>
            <a:off x="3017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 bwMode="gray">
          <a:xfrm>
            <a:off x="7589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 bwMode="gray">
          <a:xfrm>
            <a:off x="1216152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 bwMode="gray">
          <a:xfrm>
            <a:off x="76352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 bwMode="gray">
          <a:xfrm>
            <a:off x="80924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 bwMode="gray">
          <a:xfrm>
            <a:off x="8549640" y="530352"/>
            <a:ext cx="283464" cy="283464"/>
          </a:xfrm>
          <a:prstGeom prst="ellipse">
            <a:avLst/>
          </a:prstGeom>
          <a:noFill/>
          <a:ln w="57150">
            <a:solidFill>
              <a:srgbClr val="C1C1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0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 bwMode="gray">
          <a:xfrm flipH="1" flipV="1">
            <a:off x="6769373" y="6204296"/>
            <a:ext cx="852820" cy="653704"/>
          </a:xfrm>
          <a:custGeom>
            <a:avLst/>
            <a:gdLst>
              <a:gd name="connsiteX0" fmla="*/ 0 w 1310936"/>
              <a:gd name="connsiteY0" fmla="*/ 0 h 1115627"/>
              <a:gd name="connsiteX1" fmla="*/ 435006 w 1310936"/>
              <a:gd name="connsiteY1" fmla="*/ 1115627 h 1115627"/>
              <a:gd name="connsiteX2" fmla="*/ 1310936 w 1310936"/>
              <a:gd name="connsiteY2" fmla="*/ 645111 h 1115627"/>
              <a:gd name="connsiteX3" fmla="*/ 1222159 w 1310936"/>
              <a:gd name="connsiteY3" fmla="*/ 0 h 1115627"/>
              <a:gd name="connsiteX4" fmla="*/ 0 w 1310936"/>
              <a:gd name="connsiteY4" fmla="*/ 0 h 1115627"/>
              <a:gd name="connsiteX0" fmla="*/ 0 w 1310936"/>
              <a:gd name="connsiteY0" fmla="*/ 0 h 1063415"/>
              <a:gd name="connsiteX1" fmla="*/ 414592 w 1310936"/>
              <a:gd name="connsiteY1" fmla="*/ 1063415 h 1063415"/>
              <a:gd name="connsiteX2" fmla="*/ 1310936 w 1310936"/>
              <a:gd name="connsiteY2" fmla="*/ 645111 h 1063415"/>
              <a:gd name="connsiteX3" fmla="*/ 1222159 w 1310936"/>
              <a:gd name="connsiteY3" fmla="*/ 0 h 1063415"/>
              <a:gd name="connsiteX4" fmla="*/ 0 w 1310936"/>
              <a:gd name="connsiteY4" fmla="*/ 0 h 1063415"/>
              <a:gd name="connsiteX0" fmla="*/ 0 w 1328969"/>
              <a:gd name="connsiteY0" fmla="*/ 0 h 1063415"/>
              <a:gd name="connsiteX1" fmla="*/ 414592 w 1328969"/>
              <a:gd name="connsiteY1" fmla="*/ 1063415 h 1063415"/>
              <a:gd name="connsiteX2" fmla="*/ 1328969 w 1328969"/>
              <a:gd name="connsiteY2" fmla="*/ 764808 h 1063415"/>
              <a:gd name="connsiteX3" fmla="*/ 1222159 w 1328969"/>
              <a:gd name="connsiteY3" fmla="*/ 0 h 1063415"/>
              <a:gd name="connsiteX4" fmla="*/ 0 w 1328969"/>
              <a:gd name="connsiteY4" fmla="*/ 0 h 1063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969" h="1063415">
                <a:moveTo>
                  <a:pt x="0" y="0"/>
                </a:moveTo>
                <a:lnTo>
                  <a:pt x="414592" y="1063415"/>
                </a:lnTo>
                <a:lnTo>
                  <a:pt x="1328969" y="764808"/>
                </a:lnTo>
                <a:lnTo>
                  <a:pt x="122215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 bwMode="gray">
          <a:xfrm flipH="1" flipV="1">
            <a:off x="7411881" y="5623560"/>
            <a:ext cx="1737360" cy="1234440"/>
          </a:xfrm>
          <a:custGeom>
            <a:avLst/>
            <a:gdLst>
              <a:gd name="connsiteX0" fmla="*/ 0 w 2013857"/>
              <a:gd name="connsiteY0" fmla="*/ 10886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10886 h 1436914"/>
              <a:gd name="connsiteX0" fmla="*/ 0 w 2013857"/>
              <a:gd name="connsiteY0" fmla="*/ 2008 h 1436914"/>
              <a:gd name="connsiteX1" fmla="*/ 0 w 2013857"/>
              <a:gd name="connsiteY1" fmla="*/ 1436914 h 1436914"/>
              <a:gd name="connsiteX2" fmla="*/ 2013857 w 2013857"/>
              <a:gd name="connsiteY2" fmla="*/ 794657 h 1436914"/>
              <a:gd name="connsiteX3" fmla="*/ 1687286 w 2013857"/>
              <a:gd name="connsiteY3" fmla="*/ 0 h 1436914"/>
              <a:gd name="connsiteX4" fmla="*/ 0 w 2013857"/>
              <a:gd name="connsiteY4" fmla="*/ 2008 h 1436914"/>
              <a:gd name="connsiteX0" fmla="*/ 5918 w 2019775"/>
              <a:gd name="connsiteY0" fmla="*/ 2008 h 1452979"/>
              <a:gd name="connsiteX1" fmla="*/ 5918 w 2019775"/>
              <a:gd name="connsiteY1" fmla="*/ 1436914 h 1452979"/>
              <a:gd name="connsiteX2" fmla="*/ 0 w 2019775"/>
              <a:gd name="connsiteY2" fmla="*/ 1452979 h 1452979"/>
              <a:gd name="connsiteX3" fmla="*/ 2019775 w 2019775"/>
              <a:gd name="connsiteY3" fmla="*/ 794657 h 1452979"/>
              <a:gd name="connsiteX4" fmla="*/ 1693204 w 2019775"/>
              <a:gd name="connsiteY4" fmla="*/ 0 h 1452979"/>
              <a:gd name="connsiteX5" fmla="*/ 5918 w 2019775"/>
              <a:gd name="connsiteY5" fmla="*/ 2008 h 145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775" h="1452979">
                <a:moveTo>
                  <a:pt x="5918" y="2008"/>
                </a:moveTo>
                <a:lnTo>
                  <a:pt x="5918" y="1436914"/>
                </a:lnTo>
                <a:lnTo>
                  <a:pt x="0" y="1452979"/>
                </a:lnTo>
                <a:lnTo>
                  <a:pt x="2019775" y="794657"/>
                </a:lnTo>
                <a:lnTo>
                  <a:pt x="1693204" y="0"/>
                </a:lnTo>
                <a:lnTo>
                  <a:pt x="5918" y="2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 bwMode="gray">
          <a:xfrm>
            <a:off x="-5918" y="0"/>
            <a:ext cx="2404872" cy="1783080"/>
            <a:chOff x="-5918" y="0"/>
            <a:chExt cx="3089429" cy="2295395"/>
          </a:xfrm>
        </p:grpSpPr>
        <p:sp>
          <p:nvSpPr>
            <p:cNvPr id="8" name="Freeform 7"/>
            <p:cNvSpPr/>
            <p:nvPr userDrawn="1"/>
          </p:nvSpPr>
          <p:spPr bwMode="gray">
            <a:xfrm>
              <a:off x="1772575" y="0"/>
              <a:ext cx="1310936" cy="1115627"/>
            </a:xfrm>
            <a:custGeom>
              <a:avLst/>
              <a:gdLst>
                <a:gd name="connsiteX0" fmla="*/ 0 w 1310936"/>
                <a:gd name="connsiteY0" fmla="*/ 0 h 1115627"/>
                <a:gd name="connsiteX1" fmla="*/ 435006 w 1310936"/>
                <a:gd name="connsiteY1" fmla="*/ 1115627 h 1115627"/>
                <a:gd name="connsiteX2" fmla="*/ 1310936 w 1310936"/>
                <a:gd name="connsiteY2" fmla="*/ 645111 h 1115627"/>
                <a:gd name="connsiteX3" fmla="*/ 1222159 w 1310936"/>
                <a:gd name="connsiteY3" fmla="*/ 0 h 1115627"/>
                <a:gd name="connsiteX4" fmla="*/ 0 w 1310936"/>
                <a:gd name="connsiteY4" fmla="*/ 0 h 111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936" h="1115627">
                  <a:moveTo>
                    <a:pt x="0" y="0"/>
                  </a:moveTo>
                  <a:lnTo>
                    <a:pt x="435006" y="1115627"/>
                  </a:lnTo>
                  <a:lnTo>
                    <a:pt x="1310936" y="645111"/>
                  </a:lnTo>
                  <a:lnTo>
                    <a:pt x="1222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 userDrawn="1"/>
          </p:nvSpPr>
          <p:spPr bwMode="gray">
            <a:xfrm>
              <a:off x="-5918" y="0"/>
              <a:ext cx="2019775" cy="1452979"/>
            </a:xfrm>
            <a:custGeom>
              <a:avLst/>
              <a:gdLst>
                <a:gd name="connsiteX0" fmla="*/ 0 w 2013857"/>
                <a:gd name="connsiteY0" fmla="*/ 10886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10886 h 1436914"/>
                <a:gd name="connsiteX0" fmla="*/ 0 w 2013857"/>
                <a:gd name="connsiteY0" fmla="*/ 2008 h 1436914"/>
                <a:gd name="connsiteX1" fmla="*/ 0 w 2013857"/>
                <a:gd name="connsiteY1" fmla="*/ 1436914 h 1436914"/>
                <a:gd name="connsiteX2" fmla="*/ 2013857 w 2013857"/>
                <a:gd name="connsiteY2" fmla="*/ 794657 h 1436914"/>
                <a:gd name="connsiteX3" fmla="*/ 1687286 w 2013857"/>
                <a:gd name="connsiteY3" fmla="*/ 0 h 1436914"/>
                <a:gd name="connsiteX4" fmla="*/ 0 w 2013857"/>
                <a:gd name="connsiteY4" fmla="*/ 2008 h 1436914"/>
                <a:gd name="connsiteX0" fmla="*/ 5918 w 2019775"/>
                <a:gd name="connsiteY0" fmla="*/ 2008 h 1452979"/>
                <a:gd name="connsiteX1" fmla="*/ 5918 w 2019775"/>
                <a:gd name="connsiteY1" fmla="*/ 1436914 h 1452979"/>
                <a:gd name="connsiteX2" fmla="*/ 0 w 2019775"/>
                <a:gd name="connsiteY2" fmla="*/ 1452979 h 1452979"/>
                <a:gd name="connsiteX3" fmla="*/ 2019775 w 2019775"/>
                <a:gd name="connsiteY3" fmla="*/ 794657 h 1452979"/>
                <a:gd name="connsiteX4" fmla="*/ 1693204 w 2019775"/>
                <a:gd name="connsiteY4" fmla="*/ 0 h 1452979"/>
                <a:gd name="connsiteX5" fmla="*/ 5918 w 2019775"/>
                <a:gd name="connsiteY5" fmla="*/ 2008 h 145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9775" h="1452979">
                  <a:moveTo>
                    <a:pt x="5918" y="2008"/>
                  </a:moveTo>
                  <a:lnTo>
                    <a:pt x="5918" y="1436914"/>
                  </a:lnTo>
                  <a:lnTo>
                    <a:pt x="0" y="1452979"/>
                  </a:lnTo>
                  <a:lnTo>
                    <a:pt x="2019775" y="794657"/>
                  </a:lnTo>
                  <a:lnTo>
                    <a:pt x="1693204" y="0"/>
                  </a:lnTo>
                  <a:lnTo>
                    <a:pt x="5918" y="200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 userDrawn="1"/>
          </p:nvSpPr>
          <p:spPr bwMode="gray">
            <a:xfrm>
              <a:off x="-3132" y="895611"/>
              <a:ext cx="2156565" cy="1399784"/>
            </a:xfrm>
            <a:custGeom>
              <a:avLst/>
              <a:gdLst>
                <a:gd name="connsiteX0" fmla="*/ 2048006 w 2148214"/>
                <a:gd name="connsiteY0" fmla="*/ 0 h 1399784"/>
                <a:gd name="connsiteX1" fmla="*/ 2148214 w 2148214"/>
                <a:gd name="connsiteY1" fmla="*/ 253652 h 1399784"/>
                <a:gd name="connsiteX2" fmla="*/ 0 w 2148214"/>
                <a:gd name="connsiteY2" fmla="*/ 1399784 h 1399784"/>
                <a:gd name="connsiteX3" fmla="*/ 0 w 2148214"/>
                <a:gd name="connsiteY3" fmla="*/ 676405 h 1399784"/>
                <a:gd name="connsiteX4" fmla="*/ 2048006 w 2148214"/>
                <a:gd name="connsiteY4" fmla="*/ 0 h 1399784"/>
                <a:gd name="connsiteX0" fmla="*/ 2048006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48006 w 2156565"/>
                <a:gd name="connsiteY4" fmla="*/ 0 h 1399784"/>
                <a:gd name="connsiteX0" fmla="*/ 2060532 w 2156565"/>
                <a:gd name="connsiteY0" fmla="*/ 0 h 1399784"/>
                <a:gd name="connsiteX1" fmla="*/ 2156565 w 2156565"/>
                <a:gd name="connsiteY1" fmla="*/ 247389 h 1399784"/>
                <a:gd name="connsiteX2" fmla="*/ 0 w 2156565"/>
                <a:gd name="connsiteY2" fmla="*/ 1399784 h 1399784"/>
                <a:gd name="connsiteX3" fmla="*/ 0 w 2156565"/>
                <a:gd name="connsiteY3" fmla="*/ 676405 h 1399784"/>
                <a:gd name="connsiteX4" fmla="*/ 2060532 w 2156565"/>
                <a:gd name="connsiteY4" fmla="*/ 0 h 1399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6565" h="1399784">
                  <a:moveTo>
                    <a:pt x="2060532" y="0"/>
                  </a:moveTo>
                  <a:lnTo>
                    <a:pt x="2156565" y="247389"/>
                  </a:lnTo>
                  <a:lnTo>
                    <a:pt x="0" y="1399784"/>
                  </a:lnTo>
                  <a:lnTo>
                    <a:pt x="0" y="676405"/>
                  </a:lnTo>
                  <a:lnTo>
                    <a:pt x="2060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7004304" y="274638"/>
            <a:ext cx="1682496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457200" y="274638"/>
            <a:ext cx="6400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457200" y="6583680"/>
            <a:ext cx="2133600" cy="2286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>
            <a:off x="2670048" y="6583680"/>
            <a:ext cx="41148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7013448" y="6583680"/>
            <a:ext cx="457200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7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16" name="Freeform 15"/>
          <p:cNvSpPr/>
          <p:nvPr/>
        </p:nvSpPr>
        <p:spPr bwMode="gray">
          <a:xfrm>
            <a:off x="-1" y="6229431"/>
            <a:ext cx="1367073" cy="20984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7073" h="209846">
                <a:moveTo>
                  <a:pt x="0" y="0"/>
                </a:moveTo>
                <a:lnTo>
                  <a:pt x="1230086" y="21771"/>
                </a:lnTo>
                <a:lnTo>
                  <a:pt x="1367073" y="143886"/>
                </a:lnTo>
                <a:lnTo>
                  <a:pt x="521760" y="146472"/>
                </a:lnTo>
                <a:lnTo>
                  <a:pt x="507856" y="209846"/>
                </a:lnTo>
                <a:lnTo>
                  <a:pt x="1833" y="2083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 bwMode="gray">
          <a:xfrm>
            <a:off x="561" y="6469523"/>
            <a:ext cx="1088979" cy="388477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8979" h="388477">
                <a:moveTo>
                  <a:pt x="310" y="697"/>
                </a:moveTo>
                <a:lnTo>
                  <a:pt x="498339" y="0"/>
                </a:lnTo>
                <a:lnTo>
                  <a:pt x="464654" y="104880"/>
                </a:lnTo>
                <a:lnTo>
                  <a:pt x="1028546" y="104448"/>
                </a:lnTo>
                <a:lnTo>
                  <a:pt x="1088979" y="388477"/>
                </a:lnTo>
                <a:lnTo>
                  <a:pt x="1035" y="386331"/>
                </a:lnTo>
                <a:cubicBezTo>
                  <a:pt x="0" y="256993"/>
                  <a:pt x="1345" y="130035"/>
                  <a:pt x="310" y="6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 bwMode="gray">
          <a:xfrm>
            <a:off x="501660" y="6389202"/>
            <a:ext cx="4536352" cy="160684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52" h="369387">
                <a:moveTo>
                  <a:pt x="48436" y="0"/>
                </a:moveTo>
                <a:lnTo>
                  <a:pt x="4536352" y="26326"/>
                </a:lnTo>
                <a:lnTo>
                  <a:pt x="4472120" y="299405"/>
                </a:lnTo>
                <a:lnTo>
                  <a:pt x="0" y="369388"/>
                </a:lnTo>
                <a:lnTo>
                  <a:pt x="48436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 bwMode="gray">
          <a:xfrm>
            <a:off x="1058521" y="6550388"/>
            <a:ext cx="7139514" cy="318498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48436 w 4536352"/>
              <a:gd name="connsiteY0" fmla="*/ 0 h 369388"/>
              <a:gd name="connsiteX1" fmla="*/ 4536352 w 4536352"/>
              <a:gd name="connsiteY1" fmla="*/ 26326 h 369388"/>
              <a:gd name="connsiteX2" fmla="*/ 4507345 w 4536352"/>
              <a:gd name="connsiteY2" fmla="*/ 341536 h 369388"/>
              <a:gd name="connsiteX3" fmla="*/ 0 w 4536352"/>
              <a:gd name="connsiteY3" fmla="*/ 369388 h 369388"/>
              <a:gd name="connsiteX4" fmla="*/ 48436 w 4536352"/>
              <a:gd name="connsiteY4" fmla="*/ 0 h 369388"/>
              <a:gd name="connsiteX0" fmla="*/ 0 w 4601879"/>
              <a:gd name="connsiteY0" fmla="*/ 52440 h 343062"/>
              <a:gd name="connsiteX1" fmla="*/ 4601879 w 4601879"/>
              <a:gd name="connsiteY1" fmla="*/ 0 h 343062"/>
              <a:gd name="connsiteX2" fmla="*/ 4572872 w 4601879"/>
              <a:gd name="connsiteY2" fmla="*/ 315210 h 343062"/>
              <a:gd name="connsiteX3" fmla="*/ 65527 w 4601879"/>
              <a:gd name="connsiteY3" fmla="*/ 343062 h 343062"/>
              <a:gd name="connsiteX4" fmla="*/ 0 w 4601879"/>
              <a:gd name="connsiteY4" fmla="*/ 52440 h 343062"/>
              <a:gd name="connsiteX0" fmla="*/ 0 w 4563837"/>
              <a:gd name="connsiteY0" fmla="*/ 22845 h 343062"/>
              <a:gd name="connsiteX1" fmla="*/ 4563837 w 4563837"/>
              <a:gd name="connsiteY1" fmla="*/ 0 h 343062"/>
              <a:gd name="connsiteX2" fmla="*/ 4534830 w 4563837"/>
              <a:gd name="connsiteY2" fmla="*/ 315210 h 343062"/>
              <a:gd name="connsiteX3" fmla="*/ 27485 w 4563837"/>
              <a:gd name="connsiteY3" fmla="*/ 343062 h 343062"/>
              <a:gd name="connsiteX4" fmla="*/ 0 w 4563837"/>
              <a:gd name="connsiteY4" fmla="*/ 22845 h 343062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34830 w 4563837"/>
              <a:gd name="connsiteY2" fmla="*/ 315210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3837"/>
              <a:gd name="connsiteY0" fmla="*/ 22845 h 332300"/>
              <a:gd name="connsiteX1" fmla="*/ 4563837 w 4563837"/>
              <a:gd name="connsiteY1" fmla="*/ 0 h 332300"/>
              <a:gd name="connsiteX2" fmla="*/ 4512005 w 4563837"/>
              <a:gd name="connsiteY2" fmla="*/ 328662 h 332300"/>
              <a:gd name="connsiteX3" fmla="*/ 32050 w 4563837"/>
              <a:gd name="connsiteY3" fmla="*/ 332300 h 332300"/>
              <a:gd name="connsiteX4" fmla="*/ 0 w 4563837"/>
              <a:gd name="connsiteY4" fmla="*/ 22845 h 332300"/>
              <a:gd name="connsiteX0" fmla="*/ 0 w 4562315"/>
              <a:gd name="connsiteY0" fmla="*/ 30917 h 340372"/>
              <a:gd name="connsiteX1" fmla="*/ 4562315 w 4562315"/>
              <a:gd name="connsiteY1" fmla="*/ 0 h 340372"/>
              <a:gd name="connsiteX2" fmla="*/ 4512005 w 4562315"/>
              <a:gd name="connsiteY2" fmla="*/ 336734 h 340372"/>
              <a:gd name="connsiteX3" fmla="*/ 32050 w 4562315"/>
              <a:gd name="connsiteY3" fmla="*/ 340372 h 340372"/>
              <a:gd name="connsiteX4" fmla="*/ 0 w 4562315"/>
              <a:gd name="connsiteY4" fmla="*/ 30917 h 34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2315" h="340372">
                <a:moveTo>
                  <a:pt x="0" y="30917"/>
                </a:moveTo>
                <a:lnTo>
                  <a:pt x="4562315" y="0"/>
                </a:lnTo>
                <a:lnTo>
                  <a:pt x="4512005" y="336734"/>
                </a:lnTo>
                <a:lnTo>
                  <a:pt x="32050" y="340372"/>
                </a:lnTo>
                <a:lnTo>
                  <a:pt x="0" y="3091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 bwMode="gray">
          <a:xfrm>
            <a:off x="5005388" y="6324681"/>
            <a:ext cx="1176821" cy="200026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0581" h="323214">
                <a:moveTo>
                  <a:pt x="379208" y="-1"/>
                </a:moveTo>
                <a:lnTo>
                  <a:pt x="4545802" y="53258"/>
                </a:lnTo>
                <a:lnTo>
                  <a:pt x="4670581" y="310948"/>
                </a:lnTo>
                <a:lnTo>
                  <a:pt x="0" y="323214"/>
                </a:lnTo>
                <a:lnTo>
                  <a:pt x="379208" y="-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 bwMode="gray">
          <a:xfrm>
            <a:off x="6168128" y="6353255"/>
            <a:ext cx="2467606" cy="16668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574" h="269345">
                <a:moveTo>
                  <a:pt x="0" y="-1"/>
                </a:moveTo>
                <a:lnTo>
                  <a:pt x="5289574" y="22476"/>
                </a:lnTo>
                <a:lnTo>
                  <a:pt x="4715043" y="237841"/>
                </a:lnTo>
                <a:lnTo>
                  <a:pt x="90402" y="269345"/>
                </a:lnTo>
                <a:lnTo>
                  <a:pt x="0" y="-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/>
          <p:cNvSpPr/>
          <p:nvPr/>
        </p:nvSpPr>
        <p:spPr bwMode="gray">
          <a:xfrm>
            <a:off x="8417311" y="6360399"/>
            <a:ext cx="593340" cy="149573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83982" h="241689">
                <a:moveTo>
                  <a:pt x="2696066" y="0"/>
                </a:moveTo>
                <a:lnTo>
                  <a:pt x="5883982" y="7086"/>
                </a:lnTo>
                <a:lnTo>
                  <a:pt x="3066102" y="241689"/>
                </a:lnTo>
                <a:lnTo>
                  <a:pt x="0" y="238564"/>
                </a:lnTo>
                <a:lnTo>
                  <a:pt x="2696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 bwMode="gray">
          <a:xfrm>
            <a:off x="8162518" y="6362780"/>
            <a:ext cx="980697" cy="495219"/>
          </a:xfrm>
          <a:custGeom>
            <a:avLst/>
            <a:gdLst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71600"/>
              <a:gd name="connsiteY0" fmla="*/ 0 h 206828"/>
              <a:gd name="connsiteX1" fmla="*/ 1230086 w 1371600"/>
              <a:gd name="connsiteY1" fmla="*/ 21771 h 206828"/>
              <a:gd name="connsiteX2" fmla="*/ 1371600 w 1371600"/>
              <a:gd name="connsiteY2" fmla="*/ 119743 h 206828"/>
              <a:gd name="connsiteX3" fmla="*/ 522515 w 1371600"/>
              <a:gd name="connsiteY3" fmla="*/ 130628 h 206828"/>
              <a:gd name="connsiteX4" fmla="*/ 511629 w 1371600"/>
              <a:gd name="connsiteY4" fmla="*/ 206828 h 206828"/>
              <a:gd name="connsiteX5" fmla="*/ 10886 w 1371600"/>
              <a:gd name="connsiteY5" fmla="*/ 206828 h 206828"/>
              <a:gd name="connsiteX6" fmla="*/ 0 w 1371600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2515 w 1367073"/>
              <a:gd name="connsiteY3" fmla="*/ 130628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511629 w 1367073"/>
              <a:gd name="connsiteY4" fmla="*/ 206828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8180 w 1367073"/>
              <a:gd name="connsiteY3" fmla="*/ 135909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02899 w 1367073"/>
              <a:gd name="connsiteY3" fmla="*/ 135155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6828"/>
              <a:gd name="connsiteX1" fmla="*/ 1230086 w 1367073"/>
              <a:gd name="connsiteY1" fmla="*/ 21771 h 206828"/>
              <a:gd name="connsiteX2" fmla="*/ 1367073 w 1367073"/>
              <a:gd name="connsiteY2" fmla="*/ 143886 h 206828"/>
              <a:gd name="connsiteX3" fmla="*/ 521760 w 1367073"/>
              <a:gd name="connsiteY3" fmla="*/ 146472 h 206828"/>
              <a:gd name="connsiteX4" fmla="*/ 430902 w 1367073"/>
              <a:gd name="connsiteY4" fmla="*/ 205319 h 206828"/>
              <a:gd name="connsiteX5" fmla="*/ 10886 w 1367073"/>
              <a:gd name="connsiteY5" fmla="*/ 206828 h 206828"/>
              <a:gd name="connsiteX6" fmla="*/ 0 w 1367073"/>
              <a:gd name="connsiteY6" fmla="*/ 0 h 206828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0886 w 1367073"/>
              <a:gd name="connsiteY5" fmla="*/ 206828 h 209846"/>
              <a:gd name="connsiteX6" fmla="*/ 0 w 1367073"/>
              <a:gd name="connsiteY6" fmla="*/ 0 h 209846"/>
              <a:gd name="connsiteX0" fmla="*/ 0 w 1367073"/>
              <a:gd name="connsiteY0" fmla="*/ 0 h 209846"/>
              <a:gd name="connsiteX1" fmla="*/ 1230086 w 1367073"/>
              <a:gd name="connsiteY1" fmla="*/ 21771 h 209846"/>
              <a:gd name="connsiteX2" fmla="*/ 1367073 w 1367073"/>
              <a:gd name="connsiteY2" fmla="*/ 143886 h 209846"/>
              <a:gd name="connsiteX3" fmla="*/ 521760 w 1367073"/>
              <a:gd name="connsiteY3" fmla="*/ 146472 h 209846"/>
              <a:gd name="connsiteX4" fmla="*/ 507856 w 1367073"/>
              <a:gd name="connsiteY4" fmla="*/ 209846 h 209846"/>
              <a:gd name="connsiteX5" fmla="*/ 1833 w 1367073"/>
              <a:gd name="connsiteY5" fmla="*/ 208337 h 209846"/>
              <a:gd name="connsiteX6" fmla="*/ 0 w 1367073"/>
              <a:gd name="connsiteY6" fmla="*/ 0 h 209846"/>
              <a:gd name="connsiteX0" fmla="*/ 0 w 1367073"/>
              <a:gd name="connsiteY0" fmla="*/ 0 h 385634"/>
              <a:gd name="connsiteX1" fmla="*/ 1230086 w 1367073"/>
              <a:gd name="connsiteY1" fmla="*/ 21771 h 385634"/>
              <a:gd name="connsiteX2" fmla="*/ 1367073 w 1367073"/>
              <a:gd name="connsiteY2" fmla="*/ 143886 h 385634"/>
              <a:gd name="connsiteX3" fmla="*/ 521760 w 1367073"/>
              <a:gd name="connsiteY3" fmla="*/ 146472 h 385634"/>
              <a:gd name="connsiteX4" fmla="*/ 507856 w 1367073"/>
              <a:gd name="connsiteY4" fmla="*/ 209846 h 385634"/>
              <a:gd name="connsiteX5" fmla="*/ 7869 w 1367073"/>
              <a:gd name="connsiteY5" fmla="*/ 385634 h 385634"/>
              <a:gd name="connsiteX6" fmla="*/ 0 w 1367073"/>
              <a:gd name="connsiteY6" fmla="*/ 0 h 385634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521760 w 1367073"/>
              <a:gd name="connsiteY3" fmla="*/ 146472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367073"/>
              <a:gd name="connsiteY0" fmla="*/ 0 h 390161"/>
              <a:gd name="connsiteX1" fmla="*/ 1230086 w 1367073"/>
              <a:gd name="connsiteY1" fmla="*/ 21771 h 390161"/>
              <a:gd name="connsiteX2" fmla="*/ 1367073 w 1367073"/>
              <a:gd name="connsiteY2" fmla="*/ 143886 h 390161"/>
              <a:gd name="connsiteX3" fmla="*/ 1023473 w 1367073"/>
              <a:gd name="connsiteY3" fmla="*/ 113276 h 390161"/>
              <a:gd name="connsiteX4" fmla="*/ 1091050 w 1367073"/>
              <a:gd name="connsiteY4" fmla="*/ 390161 h 390161"/>
              <a:gd name="connsiteX5" fmla="*/ 7869 w 1367073"/>
              <a:gd name="connsiteY5" fmla="*/ 385634 h 390161"/>
              <a:gd name="connsiteX6" fmla="*/ 0 w 1367073"/>
              <a:gd name="connsiteY6" fmla="*/ 0 h 390161"/>
              <a:gd name="connsiteX0" fmla="*/ 0 w 1230086"/>
              <a:gd name="connsiteY0" fmla="*/ 0 h 390161"/>
              <a:gd name="connsiteX1" fmla="*/ 1230086 w 1230086"/>
              <a:gd name="connsiteY1" fmla="*/ 21771 h 390161"/>
              <a:gd name="connsiteX2" fmla="*/ 457200 w 1230086"/>
              <a:gd name="connsiteY2" fmla="*/ 113708 h 390161"/>
              <a:gd name="connsiteX3" fmla="*/ 1023473 w 1230086"/>
              <a:gd name="connsiteY3" fmla="*/ 113276 h 390161"/>
              <a:gd name="connsiteX4" fmla="*/ 1091050 w 1230086"/>
              <a:gd name="connsiteY4" fmla="*/ 390161 h 390161"/>
              <a:gd name="connsiteX5" fmla="*/ 7869 w 1230086"/>
              <a:gd name="connsiteY5" fmla="*/ 385634 h 390161"/>
              <a:gd name="connsiteX6" fmla="*/ 0 w 1230086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23473 w 1091050"/>
              <a:gd name="connsiteY3" fmla="*/ 113276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57200 w 1091050"/>
              <a:gd name="connsiteY2" fmla="*/ 113708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2791 w 1091050"/>
              <a:gd name="connsiteY1" fmla="*/ 11209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7869 w 1091050"/>
              <a:gd name="connsiteY5" fmla="*/ 385634 h 390161"/>
              <a:gd name="connsiteX6" fmla="*/ 0 w 1091050"/>
              <a:gd name="connsiteY6" fmla="*/ 0 h 390161"/>
              <a:gd name="connsiteX0" fmla="*/ 0 w 1091050"/>
              <a:gd name="connsiteY0" fmla="*/ 0 h 390161"/>
              <a:gd name="connsiteX1" fmla="*/ 500410 w 1091050"/>
              <a:gd name="connsiteY1" fmla="*/ 1684 h 390161"/>
              <a:gd name="connsiteX2" fmla="*/ 466725 w 1091050"/>
              <a:gd name="connsiteY2" fmla="*/ 106564 h 390161"/>
              <a:gd name="connsiteX3" fmla="*/ 1030617 w 1091050"/>
              <a:gd name="connsiteY3" fmla="*/ 106132 h 390161"/>
              <a:gd name="connsiteX4" fmla="*/ 1091050 w 1091050"/>
              <a:gd name="connsiteY4" fmla="*/ 390161 h 390161"/>
              <a:gd name="connsiteX5" fmla="*/ 3106 w 1091050"/>
              <a:gd name="connsiteY5" fmla="*/ 388015 h 390161"/>
              <a:gd name="connsiteX6" fmla="*/ 0 w 1091050"/>
              <a:gd name="connsiteY6" fmla="*/ 0 h 390161"/>
              <a:gd name="connsiteX0" fmla="*/ 2692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2692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464654 w 1088979"/>
              <a:gd name="connsiteY2" fmla="*/ 104880 h 388477"/>
              <a:gd name="connsiteX3" fmla="*/ 1028546 w 1088979"/>
              <a:gd name="connsiteY3" fmla="*/ 104448 h 388477"/>
              <a:gd name="connsiteX4" fmla="*/ 1088979 w 1088979"/>
              <a:gd name="connsiteY4" fmla="*/ 388477 h 388477"/>
              <a:gd name="connsiteX5" fmla="*/ 1035 w 1088979"/>
              <a:gd name="connsiteY5" fmla="*/ 386331 h 388477"/>
              <a:gd name="connsiteX6" fmla="*/ 310 w 1088979"/>
              <a:gd name="connsiteY6" fmla="*/ 697 h 388477"/>
              <a:gd name="connsiteX0" fmla="*/ 310 w 1088979"/>
              <a:gd name="connsiteY0" fmla="*/ 697 h 388477"/>
              <a:gd name="connsiteX1" fmla="*/ 498339 w 1088979"/>
              <a:gd name="connsiteY1" fmla="*/ 0 h 388477"/>
              <a:gd name="connsiteX2" fmla="*/ 1028546 w 1088979"/>
              <a:gd name="connsiteY2" fmla="*/ 104448 h 388477"/>
              <a:gd name="connsiteX3" fmla="*/ 1088979 w 1088979"/>
              <a:gd name="connsiteY3" fmla="*/ 388477 h 388477"/>
              <a:gd name="connsiteX4" fmla="*/ 1035 w 1088979"/>
              <a:gd name="connsiteY4" fmla="*/ 386331 h 388477"/>
              <a:gd name="connsiteX5" fmla="*/ 310 w 1088979"/>
              <a:gd name="connsiteY5" fmla="*/ 697 h 388477"/>
              <a:gd name="connsiteX0" fmla="*/ 310 w 1088979"/>
              <a:gd name="connsiteY0" fmla="*/ 0 h 387780"/>
              <a:gd name="connsiteX1" fmla="*/ 1028546 w 1088979"/>
              <a:gd name="connsiteY1" fmla="*/ 103751 h 387780"/>
              <a:gd name="connsiteX2" fmla="*/ 1088979 w 1088979"/>
              <a:gd name="connsiteY2" fmla="*/ 387780 h 387780"/>
              <a:gd name="connsiteX3" fmla="*/ 1035 w 1088979"/>
              <a:gd name="connsiteY3" fmla="*/ 385634 h 387780"/>
              <a:gd name="connsiteX4" fmla="*/ 310 w 1088979"/>
              <a:gd name="connsiteY4" fmla="*/ 0 h 387780"/>
              <a:gd name="connsiteX0" fmla="*/ 49471 w 1088979"/>
              <a:gd name="connsiteY0" fmla="*/ 0 h 393431"/>
              <a:gd name="connsiteX1" fmla="*/ 1028546 w 1088979"/>
              <a:gd name="connsiteY1" fmla="*/ 109402 h 393431"/>
              <a:gd name="connsiteX2" fmla="*/ 1088979 w 1088979"/>
              <a:gd name="connsiteY2" fmla="*/ 393431 h 393431"/>
              <a:gd name="connsiteX3" fmla="*/ 1035 w 1088979"/>
              <a:gd name="connsiteY3" fmla="*/ 391285 h 393431"/>
              <a:gd name="connsiteX4" fmla="*/ 49471 w 1088979"/>
              <a:gd name="connsiteY4" fmla="*/ 0 h 393431"/>
              <a:gd name="connsiteX0" fmla="*/ 48436 w 1087944"/>
              <a:gd name="connsiteY0" fmla="*/ 0 h 393431"/>
              <a:gd name="connsiteX1" fmla="*/ 1027511 w 1087944"/>
              <a:gd name="connsiteY1" fmla="*/ 109402 h 393431"/>
              <a:gd name="connsiteX2" fmla="*/ 1087944 w 1087944"/>
              <a:gd name="connsiteY2" fmla="*/ 393431 h 393431"/>
              <a:gd name="connsiteX3" fmla="*/ 0 w 1087944"/>
              <a:gd name="connsiteY3" fmla="*/ 391285 h 393431"/>
              <a:gd name="connsiteX4" fmla="*/ 48436 w 1087944"/>
              <a:gd name="connsiteY4" fmla="*/ 0 h 393431"/>
              <a:gd name="connsiteX0" fmla="*/ 48436 w 4472120"/>
              <a:gd name="connsiteY0" fmla="*/ 0 h 391284"/>
              <a:gd name="connsiteX1" fmla="*/ 1027511 w 4472120"/>
              <a:gd name="connsiteY1" fmla="*/ 109402 h 391284"/>
              <a:gd name="connsiteX2" fmla="*/ 4472120 w 4472120"/>
              <a:gd name="connsiteY2" fmla="*/ 321302 h 391284"/>
              <a:gd name="connsiteX3" fmla="*/ 0 w 4472120"/>
              <a:gd name="connsiteY3" fmla="*/ 391285 h 391284"/>
              <a:gd name="connsiteX4" fmla="*/ 48436 w 4472120"/>
              <a:gd name="connsiteY4" fmla="*/ 0 h 391284"/>
              <a:gd name="connsiteX0" fmla="*/ 48436 w 4550640"/>
              <a:gd name="connsiteY0" fmla="*/ 0 h 391284"/>
              <a:gd name="connsiteX1" fmla="*/ 4550640 w 4550640"/>
              <a:gd name="connsiteY1" fmla="*/ 37273 h 391284"/>
              <a:gd name="connsiteX2" fmla="*/ 4472120 w 4550640"/>
              <a:gd name="connsiteY2" fmla="*/ 321302 h 391284"/>
              <a:gd name="connsiteX3" fmla="*/ 0 w 4550640"/>
              <a:gd name="connsiteY3" fmla="*/ 391285 h 391284"/>
              <a:gd name="connsiteX4" fmla="*/ 48436 w 4550640"/>
              <a:gd name="connsiteY4" fmla="*/ 0 h 391284"/>
              <a:gd name="connsiteX0" fmla="*/ 48436 w 4562546"/>
              <a:gd name="connsiteY0" fmla="*/ 0 h 391284"/>
              <a:gd name="connsiteX1" fmla="*/ 4562546 w 4562546"/>
              <a:gd name="connsiteY1" fmla="*/ 119386 h 391284"/>
              <a:gd name="connsiteX2" fmla="*/ 4472120 w 4562546"/>
              <a:gd name="connsiteY2" fmla="*/ 321302 h 391284"/>
              <a:gd name="connsiteX3" fmla="*/ 0 w 4562546"/>
              <a:gd name="connsiteY3" fmla="*/ 391285 h 391284"/>
              <a:gd name="connsiteX4" fmla="*/ 48436 w 4562546"/>
              <a:gd name="connsiteY4" fmla="*/ 0 h 391284"/>
              <a:gd name="connsiteX0" fmla="*/ 48436 w 4536352"/>
              <a:gd name="connsiteY0" fmla="*/ 0 h 391284"/>
              <a:gd name="connsiteX1" fmla="*/ 4536352 w 4536352"/>
              <a:gd name="connsiteY1" fmla="*/ 48223 h 391284"/>
              <a:gd name="connsiteX2" fmla="*/ 4472120 w 4536352"/>
              <a:gd name="connsiteY2" fmla="*/ 321302 h 391284"/>
              <a:gd name="connsiteX3" fmla="*/ 0 w 4536352"/>
              <a:gd name="connsiteY3" fmla="*/ 391285 h 391284"/>
              <a:gd name="connsiteX4" fmla="*/ 48436 w 4536352"/>
              <a:gd name="connsiteY4" fmla="*/ 0 h 391284"/>
              <a:gd name="connsiteX0" fmla="*/ 55580 w 4536352"/>
              <a:gd name="connsiteY0" fmla="*/ 0 h 363914"/>
              <a:gd name="connsiteX1" fmla="*/ 4536352 w 4536352"/>
              <a:gd name="connsiteY1" fmla="*/ 20853 h 363914"/>
              <a:gd name="connsiteX2" fmla="*/ 4472120 w 4536352"/>
              <a:gd name="connsiteY2" fmla="*/ 293932 h 363914"/>
              <a:gd name="connsiteX3" fmla="*/ 0 w 4536352"/>
              <a:gd name="connsiteY3" fmla="*/ 363915 h 363914"/>
              <a:gd name="connsiteX4" fmla="*/ 55580 w 4536352"/>
              <a:gd name="connsiteY4" fmla="*/ 0 h 363914"/>
              <a:gd name="connsiteX0" fmla="*/ 131780 w 4536352"/>
              <a:gd name="connsiteY0" fmla="*/ 154319 h 343061"/>
              <a:gd name="connsiteX1" fmla="*/ 4536352 w 4536352"/>
              <a:gd name="connsiteY1" fmla="*/ 0 h 343061"/>
              <a:gd name="connsiteX2" fmla="*/ 4472120 w 4536352"/>
              <a:gd name="connsiteY2" fmla="*/ 273079 h 343061"/>
              <a:gd name="connsiteX3" fmla="*/ 0 w 4536352"/>
              <a:gd name="connsiteY3" fmla="*/ 343062 h 343061"/>
              <a:gd name="connsiteX4" fmla="*/ 131780 w 4536352"/>
              <a:gd name="connsiteY4" fmla="*/ 154319 h 343061"/>
              <a:gd name="connsiteX0" fmla="*/ 48436 w 4536352"/>
              <a:gd name="connsiteY0" fmla="*/ 0 h 369387"/>
              <a:gd name="connsiteX1" fmla="*/ 4536352 w 4536352"/>
              <a:gd name="connsiteY1" fmla="*/ 26326 h 369387"/>
              <a:gd name="connsiteX2" fmla="*/ 4472120 w 4536352"/>
              <a:gd name="connsiteY2" fmla="*/ 299405 h 369387"/>
              <a:gd name="connsiteX3" fmla="*/ 0 w 4536352"/>
              <a:gd name="connsiteY3" fmla="*/ 369388 h 369387"/>
              <a:gd name="connsiteX4" fmla="*/ 48436 w 4536352"/>
              <a:gd name="connsiteY4" fmla="*/ 0 h 369387"/>
              <a:gd name="connsiteX0" fmla="*/ 142941 w 4630857"/>
              <a:gd name="connsiteY0" fmla="*/ 0 h 353997"/>
              <a:gd name="connsiteX1" fmla="*/ 4630857 w 4630857"/>
              <a:gd name="connsiteY1" fmla="*/ 26326 h 353997"/>
              <a:gd name="connsiteX2" fmla="*/ 4566625 w 4630857"/>
              <a:gd name="connsiteY2" fmla="*/ 299405 h 353997"/>
              <a:gd name="connsiteX3" fmla="*/ 0 w 4630857"/>
              <a:gd name="connsiteY3" fmla="*/ 353997 h 353997"/>
              <a:gd name="connsiteX4" fmla="*/ 142941 w 4630857"/>
              <a:gd name="connsiteY4" fmla="*/ 0 h 353997"/>
              <a:gd name="connsiteX0" fmla="*/ 379208 w 4630857"/>
              <a:gd name="connsiteY0" fmla="*/ 4456 h 327671"/>
              <a:gd name="connsiteX1" fmla="*/ 4630857 w 4630857"/>
              <a:gd name="connsiteY1" fmla="*/ 0 h 327671"/>
              <a:gd name="connsiteX2" fmla="*/ 4566625 w 4630857"/>
              <a:gd name="connsiteY2" fmla="*/ 273079 h 327671"/>
              <a:gd name="connsiteX3" fmla="*/ 0 w 4630857"/>
              <a:gd name="connsiteY3" fmla="*/ 327671 h 327671"/>
              <a:gd name="connsiteX4" fmla="*/ 379208 w 4630857"/>
              <a:gd name="connsiteY4" fmla="*/ 4456 h 327671"/>
              <a:gd name="connsiteX0" fmla="*/ 379208 w 4670581"/>
              <a:gd name="connsiteY0" fmla="*/ 4456 h 327671"/>
              <a:gd name="connsiteX1" fmla="*/ 4630857 w 4670581"/>
              <a:gd name="connsiteY1" fmla="*/ 0 h 327671"/>
              <a:gd name="connsiteX2" fmla="*/ 4670581 w 4670581"/>
              <a:gd name="connsiteY2" fmla="*/ 315405 h 327671"/>
              <a:gd name="connsiteX3" fmla="*/ 0 w 4670581"/>
              <a:gd name="connsiteY3" fmla="*/ 327671 h 327671"/>
              <a:gd name="connsiteX4" fmla="*/ 379208 w 4670581"/>
              <a:gd name="connsiteY4" fmla="*/ 4456 h 327671"/>
              <a:gd name="connsiteX0" fmla="*/ 379208 w 4670581"/>
              <a:gd name="connsiteY0" fmla="*/ -1 h 323214"/>
              <a:gd name="connsiteX1" fmla="*/ 4545802 w 4670581"/>
              <a:gd name="connsiteY1" fmla="*/ 53258 h 323214"/>
              <a:gd name="connsiteX2" fmla="*/ 4670581 w 4670581"/>
              <a:gd name="connsiteY2" fmla="*/ 310948 h 323214"/>
              <a:gd name="connsiteX3" fmla="*/ 0 w 4670581"/>
              <a:gd name="connsiteY3" fmla="*/ 323214 h 323214"/>
              <a:gd name="connsiteX4" fmla="*/ 379208 w 4670581"/>
              <a:gd name="connsiteY4" fmla="*/ -1 h 323214"/>
              <a:gd name="connsiteX0" fmla="*/ 0 w 4745669"/>
              <a:gd name="connsiteY0" fmla="*/ 4456 h 269955"/>
              <a:gd name="connsiteX1" fmla="*/ 4620890 w 4745669"/>
              <a:gd name="connsiteY1" fmla="*/ -1 h 269955"/>
              <a:gd name="connsiteX2" fmla="*/ 4745669 w 4745669"/>
              <a:gd name="connsiteY2" fmla="*/ 257689 h 269955"/>
              <a:gd name="connsiteX3" fmla="*/ 75088 w 4745669"/>
              <a:gd name="connsiteY3" fmla="*/ 269955 h 269955"/>
              <a:gd name="connsiteX4" fmla="*/ 0 w 4745669"/>
              <a:gd name="connsiteY4" fmla="*/ 4456 h 269955"/>
              <a:gd name="connsiteX0" fmla="*/ 0 w 4745669"/>
              <a:gd name="connsiteY0" fmla="*/ 4458 h 273804"/>
              <a:gd name="connsiteX1" fmla="*/ 4620890 w 4745669"/>
              <a:gd name="connsiteY1" fmla="*/ 1 h 273804"/>
              <a:gd name="connsiteX2" fmla="*/ 4745669 w 4745669"/>
              <a:gd name="connsiteY2" fmla="*/ 257691 h 273804"/>
              <a:gd name="connsiteX3" fmla="*/ 90402 w 4745669"/>
              <a:gd name="connsiteY3" fmla="*/ 273804 h 273804"/>
              <a:gd name="connsiteX4" fmla="*/ 0 w 4745669"/>
              <a:gd name="connsiteY4" fmla="*/ 4458 h 273804"/>
              <a:gd name="connsiteX0" fmla="*/ 0 w 4715043"/>
              <a:gd name="connsiteY0" fmla="*/ 4456 h 273802"/>
              <a:gd name="connsiteX1" fmla="*/ 4620890 w 4715043"/>
              <a:gd name="connsiteY1" fmla="*/ -1 h 273802"/>
              <a:gd name="connsiteX2" fmla="*/ 4715043 w 4715043"/>
              <a:gd name="connsiteY2" fmla="*/ 242298 h 273802"/>
              <a:gd name="connsiteX3" fmla="*/ 90402 w 4715043"/>
              <a:gd name="connsiteY3" fmla="*/ 273802 h 273802"/>
              <a:gd name="connsiteX4" fmla="*/ 0 w 4715043"/>
              <a:gd name="connsiteY4" fmla="*/ 4456 h 273802"/>
              <a:gd name="connsiteX0" fmla="*/ 0 w 5289574"/>
              <a:gd name="connsiteY0" fmla="*/ -1 h 269345"/>
              <a:gd name="connsiteX1" fmla="*/ 5289574 w 5289574"/>
              <a:gd name="connsiteY1" fmla="*/ 22476 h 269345"/>
              <a:gd name="connsiteX2" fmla="*/ 4715043 w 5289574"/>
              <a:gd name="connsiteY2" fmla="*/ 237841 h 269345"/>
              <a:gd name="connsiteX3" fmla="*/ 90402 w 5289574"/>
              <a:gd name="connsiteY3" fmla="*/ 269345 h 269345"/>
              <a:gd name="connsiteX4" fmla="*/ 0 w 5289574"/>
              <a:gd name="connsiteY4" fmla="*/ -1 h 269345"/>
              <a:gd name="connsiteX0" fmla="*/ 0 w 7532923"/>
              <a:gd name="connsiteY0" fmla="*/ 1 h 269347"/>
              <a:gd name="connsiteX1" fmla="*/ 7532923 w 7532923"/>
              <a:gd name="connsiteY1" fmla="*/ 3240 h 269347"/>
              <a:gd name="connsiteX2" fmla="*/ 4715043 w 7532923"/>
              <a:gd name="connsiteY2" fmla="*/ 237843 h 269347"/>
              <a:gd name="connsiteX3" fmla="*/ 90402 w 7532923"/>
              <a:gd name="connsiteY3" fmla="*/ 269347 h 269347"/>
              <a:gd name="connsiteX4" fmla="*/ 0 w 7532923"/>
              <a:gd name="connsiteY4" fmla="*/ 1 h 269347"/>
              <a:gd name="connsiteX0" fmla="*/ 4254606 w 7442522"/>
              <a:gd name="connsiteY0" fmla="*/ 0 h 273193"/>
              <a:gd name="connsiteX1" fmla="*/ 7442522 w 7442522"/>
              <a:gd name="connsiteY1" fmla="*/ 7086 h 273193"/>
              <a:gd name="connsiteX2" fmla="*/ 4624642 w 7442522"/>
              <a:gd name="connsiteY2" fmla="*/ 241689 h 273193"/>
              <a:gd name="connsiteX3" fmla="*/ 1 w 7442522"/>
              <a:gd name="connsiteY3" fmla="*/ 273193 h 273193"/>
              <a:gd name="connsiteX4" fmla="*/ 4254606 w 7442522"/>
              <a:gd name="connsiteY4" fmla="*/ 0 h 273193"/>
              <a:gd name="connsiteX0" fmla="*/ 2696066 w 5883982"/>
              <a:gd name="connsiteY0" fmla="*/ 0 h 241689"/>
              <a:gd name="connsiteX1" fmla="*/ 5883982 w 5883982"/>
              <a:gd name="connsiteY1" fmla="*/ 7086 h 241689"/>
              <a:gd name="connsiteX2" fmla="*/ 3066102 w 5883982"/>
              <a:gd name="connsiteY2" fmla="*/ 241689 h 241689"/>
              <a:gd name="connsiteX3" fmla="*/ 0 w 5883982"/>
              <a:gd name="connsiteY3" fmla="*/ 238564 h 241689"/>
              <a:gd name="connsiteX4" fmla="*/ 2696066 w 5883982"/>
              <a:gd name="connsiteY4" fmla="*/ 0 h 241689"/>
              <a:gd name="connsiteX0" fmla="*/ 783321 w 5883982"/>
              <a:gd name="connsiteY0" fmla="*/ 0 h 238076"/>
              <a:gd name="connsiteX1" fmla="*/ 5883982 w 5883982"/>
              <a:gd name="connsiteY1" fmla="*/ 3473 h 238076"/>
              <a:gd name="connsiteX2" fmla="*/ 3066102 w 5883982"/>
              <a:gd name="connsiteY2" fmla="*/ 238076 h 238076"/>
              <a:gd name="connsiteX3" fmla="*/ 0 w 5883982"/>
              <a:gd name="connsiteY3" fmla="*/ 234951 h 238076"/>
              <a:gd name="connsiteX4" fmla="*/ 783321 w 5883982"/>
              <a:gd name="connsiteY4" fmla="*/ 0 h 238076"/>
              <a:gd name="connsiteX0" fmla="*/ 736088 w 5836749"/>
              <a:gd name="connsiteY0" fmla="*/ 0 h 238076"/>
              <a:gd name="connsiteX1" fmla="*/ 5836749 w 5836749"/>
              <a:gd name="connsiteY1" fmla="*/ 3473 h 238076"/>
              <a:gd name="connsiteX2" fmla="*/ 3018869 w 5836749"/>
              <a:gd name="connsiteY2" fmla="*/ 238076 h 238076"/>
              <a:gd name="connsiteX3" fmla="*/ 0 w 5836749"/>
              <a:gd name="connsiteY3" fmla="*/ 234951 h 238076"/>
              <a:gd name="connsiteX4" fmla="*/ 736088 w 5836749"/>
              <a:gd name="connsiteY4" fmla="*/ 0 h 238076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9725290 w 9725290"/>
              <a:gd name="connsiteY2" fmla="*/ 234464 h 234951"/>
              <a:gd name="connsiteX3" fmla="*/ 0 w 9725290"/>
              <a:gd name="connsiteY3" fmla="*/ 234951 h 234951"/>
              <a:gd name="connsiteX4" fmla="*/ 736088 w 9725290"/>
              <a:gd name="connsiteY4" fmla="*/ 0 h 234951"/>
              <a:gd name="connsiteX0" fmla="*/ 736088 w 9725290"/>
              <a:gd name="connsiteY0" fmla="*/ 0 h 234951"/>
              <a:gd name="connsiteX1" fmla="*/ 5836749 w 9725290"/>
              <a:gd name="connsiteY1" fmla="*/ 3473 h 234951"/>
              <a:gd name="connsiteX2" fmla="*/ 7111899 w 9725290"/>
              <a:gd name="connsiteY2" fmla="*/ 75858 h 234951"/>
              <a:gd name="connsiteX3" fmla="*/ 9725290 w 9725290"/>
              <a:gd name="connsiteY3" fmla="*/ 234464 h 234951"/>
              <a:gd name="connsiteX4" fmla="*/ 0 w 9725290"/>
              <a:gd name="connsiteY4" fmla="*/ 234951 h 234951"/>
              <a:gd name="connsiteX5" fmla="*/ 736088 w 9725290"/>
              <a:gd name="connsiteY5" fmla="*/ 0 h 234951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709463 w 9725290"/>
              <a:gd name="connsiteY2" fmla="*/ 0 h 368609"/>
              <a:gd name="connsiteX3" fmla="*/ 9725290 w 9725290"/>
              <a:gd name="connsiteY3" fmla="*/ 368122 h 368609"/>
              <a:gd name="connsiteX4" fmla="*/ 0 w 9725290"/>
              <a:gd name="connsiteY4" fmla="*/ 368609 h 368609"/>
              <a:gd name="connsiteX5" fmla="*/ 736088 w 9725290"/>
              <a:gd name="connsiteY5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7843941 w 9725290"/>
              <a:gd name="connsiteY2" fmla="*/ 63216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836749 w 9725290"/>
              <a:gd name="connsiteY1" fmla="*/ 137131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  <a:gd name="connsiteX0" fmla="*/ 736088 w 9725290"/>
              <a:gd name="connsiteY0" fmla="*/ 133658 h 368609"/>
              <a:gd name="connsiteX1" fmla="*/ 5718680 w 9725290"/>
              <a:gd name="connsiteY1" fmla="*/ 135325 h 368609"/>
              <a:gd name="connsiteX2" fmla="*/ 9071878 w 9725290"/>
              <a:gd name="connsiteY2" fmla="*/ 1807 h 368609"/>
              <a:gd name="connsiteX3" fmla="*/ 9709463 w 9725290"/>
              <a:gd name="connsiteY3" fmla="*/ 0 h 368609"/>
              <a:gd name="connsiteX4" fmla="*/ 9725290 w 9725290"/>
              <a:gd name="connsiteY4" fmla="*/ 368122 h 368609"/>
              <a:gd name="connsiteX5" fmla="*/ 0 w 9725290"/>
              <a:gd name="connsiteY5" fmla="*/ 368609 h 368609"/>
              <a:gd name="connsiteX6" fmla="*/ 736088 w 9725290"/>
              <a:gd name="connsiteY6" fmla="*/ 133658 h 368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25290" h="368609">
                <a:moveTo>
                  <a:pt x="736088" y="133658"/>
                </a:moveTo>
                <a:lnTo>
                  <a:pt x="5718680" y="135325"/>
                </a:lnTo>
                <a:lnTo>
                  <a:pt x="9071878" y="1807"/>
                </a:lnTo>
                <a:lnTo>
                  <a:pt x="9709463" y="0"/>
                </a:lnTo>
                <a:lnTo>
                  <a:pt x="9725290" y="368122"/>
                </a:lnTo>
                <a:lnTo>
                  <a:pt x="0" y="368609"/>
                </a:lnTo>
                <a:lnTo>
                  <a:pt x="736088" y="13365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73152" y="658368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670048" y="6583680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302752" y="6583680"/>
            <a:ext cx="457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2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tx2"/>
        </a:buClr>
        <a:buSzPct val="90000"/>
        <a:buFont typeface="Wingdings 3" pitchFamily="18" charset="2"/>
        <a:buChar char="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Cainiao-AI/LaDe/tree/mai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화물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 smtClean="0"/>
              <a:t>시스템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(</a:t>
            </a:r>
            <a:r>
              <a:rPr dirty="0" err="1"/>
              <a:t>XGBoost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smtClean="0">
                <a:latin typeface="+mj-ea"/>
                <a:ea typeface="+mj-ea"/>
              </a:rPr>
              <a:t>삼성아카데미 데이터 </a:t>
            </a:r>
            <a:r>
              <a:rPr lang="ko-KR" altLang="en-US" sz="2000" dirty="0" err="1" smtClean="0">
                <a:latin typeface="+mj-ea"/>
                <a:ea typeface="+mj-ea"/>
              </a:rPr>
              <a:t>분석과정</a:t>
            </a:r>
            <a:r>
              <a:rPr lang="en-US" altLang="ko-KR" sz="2000" dirty="0" smtClean="0">
                <a:latin typeface="+mj-ea"/>
                <a:ea typeface="+mj-ea"/>
              </a:rPr>
              <a:t>:</a:t>
            </a:r>
            <a:r>
              <a:rPr lang="ko-KR" altLang="en-US" sz="2000" dirty="0" smtClean="0">
                <a:latin typeface="+mj-ea"/>
                <a:ea typeface="+mj-ea"/>
              </a:rPr>
              <a:t> </a:t>
            </a:r>
            <a:r>
              <a:rPr lang="ko-KR" altLang="en-US" sz="2000" dirty="0" err="1" smtClean="0">
                <a:latin typeface="+mj-ea"/>
                <a:ea typeface="+mj-ea"/>
              </a:rPr>
              <a:t>이제우</a:t>
            </a:r>
            <a:endParaRPr sz="2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 smtClean="0"/>
              <a:t>목차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1. </a:t>
            </a:r>
            <a:r>
              <a:rPr lang="ko-KR" altLang="en-US" sz="1600" dirty="0" smtClean="0">
                <a:latin typeface="+mj-ea"/>
                <a:ea typeface="+mj-ea"/>
              </a:rPr>
              <a:t>개요</a:t>
            </a:r>
            <a:endParaRPr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2. </a:t>
            </a:r>
            <a:r>
              <a:rPr lang="ko-KR" altLang="en-US" sz="1600" dirty="0" smtClean="0">
                <a:latin typeface="+mj-ea"/>
                <a:ea typeface="+mj-ea"/>
              </a:rPr>
              <a:t>데이터 구조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3. </a:t>
            </a:r>
            <a:r>
              <a:rPr lang="ko-KR" altLang="en-US" sz="1600" dirty="0" smtClean="0">
                <a:latin typeface="+mj-ea"/>
                <a:ea typeface="+mj-ea"/>
              </a:rPr>
              <a:t>전처리 과정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4. </a:t>
            </a:r>
            <a:r>
              <a:rPr lang="ko-KR" altLang="en-US" sz="1600" dirty="0" smtClean="0">
                <a:latin typeface="+mj-ea"/>
                <a:ea typeface="+mj-ea"/>
              </a:rPr>
              <a:t>모델 구조 및 </a:t>
            </a:r>
            <a:r>
              <a:rPr lang="ko-KR" altLang="en-US" sz="1600" dirty="0" err="1" smtClean="0">
                <a:latin typeface="+mj-ea"/>
                <a:ea typeface="+mj-ea"/>
              </a:rPr>
              <a:t>파라미터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5. </a:t>
            </a:r>
            <a:r>
              <a:rPr lang="ko-KR" altLang="en-US" sz="1600" dirty="0" smtClean="0">
                <a:latin typeface="+mj-ea"/>
                <a:ea typeface="+mj-ea"/>
              </a:rPr>
              <a:t>모델 학습 결과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6. </a:t>
            </a:r>
            <a:r>
              <a:rPr lang="ko-KR" altLang="en-US" sz="1600" dirty="0" err="1" smtClean="0">
                <a:latin typeface="+mj-ea"/>
                <a:ea typeface="+mj-ea"/>
              </a:rPr>
              <a:t>매칭결과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7. </a:t>
            </a:r>
            <a:r>
              <a:rPr lang="ko-KR" altLang="en-US" sz="1600" dirty="0" smtClean="0">
                <a:latin typeface="+mj-ea"/>
                <a:ea typeface="+mj-ea"/>
              </a:rPr>
              <a:t>원인분석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8. </a:t>
            </a:r>
            <a:r>
              <a:rPr lang="ko-KR" altLang="en-US" sz="1600" dirty="0" err="1" smtClean="0">
                <a:latin typeface="+mj-ea"/>
                <a:ea typeface="+mj-ea"/>
              </a:rPr>
              <a:t>향후계획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+mj-ea"/>
                <a:ea typeface="+mj-ea"/>
              </a:rPr>
              <a:t>9. </a:t>
            </a:r>
            <a:r>
              <a:rPr lang="ko-KR" altLang="en-US" sz="1600" dirty="0" smtClean="0">
                <a:latin typeface="+mj-ea"/>
                <a:ea typeface="+mj-ea"/>
              </a:rPr>
              <a:t>출처</a:t>
            </a:r>
            <a:endParaRPr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4616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1. </a:t>
            </a:r>
            <a:r>
              <a:rPr sz="3600" dirty="0" err="1" smtClean="0">
                <a:latin typeface="+mj-ea"/>
              </a:rPr>
              <a:t>개요</a:t>
            </a:r>
            <a:endParaRPr sz="3600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sz="1500" dirty="0" err="1" smtClean="0">
                <a:latin typeface="+mj-ea"/>
                <a:ea typeface="+mj-ea"/>
              </a:rPr>
              <a:t>목표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실제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운송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데이터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기반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기사-화물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자동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매칭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모델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구축</a:t>
            </a: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sz="1500" dirty="0" err="1" smtClean="0">
                <a:latin typeface="+mj-ea"/>
                <a:ea typeface="+mj-ea"/>
              </a:rPr>
              <a:t>모델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목적</a:t>
            </a:r>
            <a:r>
              <a:rPr sz="1500" dirty="0">
                <a:latin typeface="+mj-ea"/>
                <a:ea typeface="+mj-ea"/>
              </a:rPr>
              <a:t>: 각 </a:t>
            </a:r>
            <a:r>
              <a:rPr sz="1500" dirty="0" err="1" smtClean="0">
                <a:latin typeface="+mj-ea"/>
                <a:ea typeface="+mj-ea"/>
              </a:rPr>
              <a:t>화물에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대해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가장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적합한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smtClean="0">
                <a:latin typeface="+mj-ea"/>
                <a:ea typeface="+mj-ea"/>
              </a:rPr>
              <a:t>기</a:t>
            </a:r>
            <a:r>
              <a:rPr lang="ko-KR" altLang="en-US" sz="1500" dirty="0">
                <a:latin typeface="+mj-ea"/>
                <a:ea typeface="+mj-ea"/>
              </a:rPr>
              <a:t>사</a:t>
            </a:r>
            <a:r>
              <a:rPr sz="1500" dirty="0" err="1" smtClean="0">
                <a:latin typeface="+mj-ea"/>
                <a:ea typeface="+mj-ea"/>
              </a:rPr>
              <a:t>예측</a:t>
            </a:r>
            <a:endParaRPr sz="15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2. </a:t>
            </a:r>
            <a:r>
              <a:rPr sz="3600" dirty="0" err="1">
                <a:latin typeface="+mj-ea"/>
              </a:rPr>
              <a:t>데이터</a:t>
            </a:r>
            <a:r>
              <a:rPr sz="3600" dirty="0">
                <a:latin typeface="+mj-ea"/>
              </a:rPr>
              <a:t> </a:t>
            </a:r>
            <a:r>
              <a:rPr sz="3600" dirty="0" err="1">
                <a:latin typeface="+mj-ea"/>
              </a:rPr>
              <a:t>구조</a:t>
            </a:r>
            <a:endParaRPr sz="3600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 smtClean="0">
                <a:latin typeface="+mj-ea"/>
                <a:ea typeface="+mj-ea"/>
              </a:rPr>
              <a:t>중국 </a:t>
            </a:r>
            <a:r>
              <a:rPr lang="en-US" altLang="ko-KR" sz="1600" dirty="0" smtClean="0">
                <a:latin typeface="+mj-ea"/>
                <a:ea typeface="+mj-ea"/>
              </a:rPr>
              <a:t>5</a:t>
            </a:r>
            <a:r>
              <a:rPr lang="ko-KR" altLang="en-US" sz="1600" dirty="0" err="1" smtClean="0">
                <a:latin typeface="+mj-ea"/>
                <a:ea typeface="+mj-ea"/>
              </a:rPr>
              <a:t>개지역의</a:t>
            </a:r>
            <a:r>
              <a:rPr lang="ko-KR" altLang="en-US" sz="1600" dirty="0" smtClean="0">
                <a:latin typeface="+mj-ea"/>
                <a:ea typeface="+mj-ea"/>
              </a:rPr>
              <a:t> 배송 데이터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600" dirty="0" smtClean="0">
                <a:latin typeface="+mj-ea"/>
                <a:ea typeface="+mj-ea"/>
              </a:rPr>
              <a:t>2</a:t>
            </a:r>
            <a:r>
              <a:rPr lang="ko-KR" altLang="en-US" sz="1600" dirty="0" smtClean="0">
                <a:latin typeface="+mj-ea"/>
                <a:ea typeface="+mj-ea"/>
              </a:rPr>
              <a:t>개의 </a:t>
            </a:r>
            <a:r>
              <a:rPr lang="en-US" altLang="ko-KR" sz="1600" dirty="0" smtClean="0">
                <a:latin typeface="+mj-ea"/>
                <a:ea typeface="+mj-ea"/>
              </a:rPr>
              <a:t>csv</a:t>
            </a:r>
            <a:r>
              <a:rPr lang="ko-KR" altLang="en-US" sz="1600" dirty="0" smtClean="0">
                <a:latin typeface="+mj-ea"/>
                <a:ea typeface="+mj-ea"/>
              </a:rPr>
              <a:t>파일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 smtClean="0">
                <a:latin typeface="+mj-ea"/>
                <a:ea typeface="+mj-ea"/>
              </a:rPr>
              <a:t>• trajectory</a:t>
            </a:r>
            <a:r>
              <a:rPr sz="1600" dirty="0">
                <a:latin typeface="+mj-ea"/>
                <a:ea typeface="+mj-ea"/>
              </a:rPr>
              <a:t>: 51,122,257행, 5열 → </a:t>
            </a:r>
            <a:r>
              <a:rPr sz="1600" dirty="0" err="1">
                <a:latin typeface="+mj-ea"/>
                <a:ea typeface="+mj-ea"/>
              </a:rPr>
              <a:t>기사</a:t>
            </a:r>
            <a:r>
              <a:rPr sz="1600" dirty="0">
                <a:latin typeface="+mj-ea"/>
                <a:ea typeface="+mj-ea"/>
              </a:rPr>
              <a:t> GPS </a:t>
            </a:r>
            <a:r>
              <a:rPr sz="1600" dirty="0" err="1">
                <a:latin typeface="+mj-ea"/>
                <a:ea typeface="+mj-ea"/>
              </a:rPr>
              <a:t>궤적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데이터</a:t>
            </a:r>
            <a:endParaRPr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>
                <a:latin typeface="+mj-ea"/>
                <a:ea typeface="+mj-ea"/>
              </a:rPr>
              <a:t>• </a:t>
            </a:r>
            <a:r>
              <a:rPr sz="1600" dirty="0" smtClean="0">
                <a:latin typeface="+mj-ea"/>
                <a:ea typeface="+mj-ea"/>
              </a:rPr>
              <a:t>pickup</a:t>
            </a:r>
            <a:r>
              <a:rPr sz="1600" dirty="0">
                <a:latin typeface="+mj-ea"/>
                <a:ea typeface="+mj-ea"/>
              </a:rPr>
              <a:t>: 2,348,912행, 24열 → </a:t>
            </a:r>
            <a:r>
              <a:rPr sz="1600" dirty="0" err="1">
                <a:latin typeface="+mj-ea"/>
                <a:ea typeface="+mj-ea"/>
              </a:rPr>
              <a:t>화물·배차·픽업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 smtClean="0">
                <a:latin typeface="+mj-ea"/>
                <a:ea typeface="+mj-ea"/>
              </a:rPr>
              <a:t>정보</a:t>
            </a: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j-ea"/>
                <a:ea typeface="+mj-ea"/>
              </a:rPr>
              <a:t>trajectory </a:t>
            </a:r>
            <a:r>
              <a:rPr lang="ko-KR" altLang="en-US" sz="1600" dirty="0">
                <a:latin typeface="+mj-ea"/>
                <a:ea typeface="+mj-ea"/>
              </a:rPr>
              <a:t>주요 컬럼</a:t>
            </a:r>
            <a:r>
              <a:rPr lang="en-US" altLang="ko-KR" sz="1600" dirty="0">
                <a:latin typeface="+mj-ea"/>
                <a:ea typeface="+mj-ea"/>
              </a:rPr>
              <a:t>: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 err="1">
                <a:latin typeface="+mj-ea"/>
                <a:ea typeface="+mj-ea"/>
              </a:rPr>
              <a:t>got_gps_lng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en-US" altLang="ko-KR" sz="1600" dirty="0" err="1">
                <a:latin typeface="+mj-ea"/>
                <a:ea typeface="+mj-ea"/>
              </a:rPr>
              <a:t>got_gps_lat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en-US" altLang="ko-KR" sz="1600" dirty="0" err="1">
                <a:latin typeface="+mj-ea"/>
                <a:ea typeface="+mj-ea"/>
              </a:rPr>
              <a:t>accept_gps_lng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en-US" altLang="ko-KR" sz="1600" dirty="0" err="1" smtClean="0">
                <a:latin typeface="+mj-ea"/>
                <a:ea typeface="+mj-ea"/>
              </a:rPr>
              <a:t>accept_gps_lat</a:t>
            </a: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+mj-ea"/>
                <a:ea typeface="+mj-ea"/>
              </a:rPr>
              <a:t>pickup </a:t>
            </a:r>
            <a:r>
              <a:rPr sz="1600" dirty="0" err="1" smtClean="0">
                <a:latin typeface="+mj-ea"/>
                <a:ea typeface="+mj-ea"/>
              </a:rPr>
              <a:t>주요</a:t>
            </a:r>
            <a:r>
              <a:rPr sz="1600" dirty="0" smtClean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컬럼</a:t>
            </a:r>
            <a:r>
              <a:rPr sz="1600" dirty="0">
                <a:latin typeface="+mj-ea"/>
                <a:ea typeface="+mj-ea"/>
              </a:rPr>
              <a:t>: </a:t>
            </a:r>
            <a:r>
              <a:rPr sz="1600" dirty="0" err="1">
                <a:latin typeface="+mj-ea"/>
                <a:ea typeface="+mj-ea"/>
              </a:rPr>
              <a:t>delivery_user_id</a:t>
            </a:r>
            <a:r>
              <a:rPr sz="1600" dirty="0">
                <a:latin typeface="+mj-ea"/>
                <a:ea typeface="+mj-ea"/>
              </a:rPr>
              <a:t>, </a:t>
            </a:r>
            <a:r>
              <a:rPr lang="en-US" altLang="ko-KR" sz="1600" dirty="0" err="1" smtClean="0">
                <a:latin typeface="+mj-ea"/>
                <a:ea typeface="+mj-ea"/>
              </a:rPr>
              <a:t>from_dipan_id</a:t>
            </a:r>
            <a:r>
              <a:rPr lang="en-US" altLang="ko-KR" sz="1600" dirty="0" smtClean="0">
                <a:latin typeface="+mj-ea"/>
                <a:ea typeface="+mj-ea"/>
              </a:rPr>
              <a:t>, </a:t>
            </a:r>
            <a:r>
              <a:rPr lang="en-US" altLang="ko-KR" sz="1600" dirty="0" err="1" smtClean="0">
                <a:latin typeface="+mj-ea"/>
                <a:ea typeface="+mj-ea"/>
              </a:rPr>
              <a:t>from_city_name</a:t>
            </a:r>
            <a:endParaRPr lang="en-US" altLang="ko-KR" sz="1600" dirty="0" smtClean="0">
              <a:latin typeface="+mj-ea"/>
              <a:ea typeface="+mj-ea"/>
            </a:endParaRPr>
          </a:p>
          <a:p>
            <a:endParaRPr lang="en-US" altLang="ko-KR" sz="1600" dirty="0"/>
          </a:p>
          <a:p>
            <a:endParaRPr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3. </a:t>
            </a:r>
            <a:r>
              <a:rPr sz="3600" dirty="0" err="1">
                <a:latin typeface="+mj-ea"/>
              </a:rPr>
              <a:t>전처리</a:t>
            </a:r>
            <a:r>
              <a:rPr sz="3600" dirty="0">
                <a:latin typeface="+mj-ea"/>
              </a:rPr>
              <a:t> </a:t>
            </a:r>
            <a:r>
              <a:rPr sz="3600" dirty="0" err="1">
                <a:latin typeface="+mj-ea"/>
              </a:rPr>
              <a:t>과정</a:t>
            </a:r>
            <a:endParaRPr sz="3600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600" dirty="0">
                <a:latin typeface="+mj-ea"/>
                <a:ea typeface="+mj-ea"/>
              </a:rPr>
              <a:t>• driver.csv: 239,618</a:t>
            </a:r>
            <a:r>
              <a:rPr lang="ko-KR" altLang="en-US" sz="1600" dirty="0">
                <a:latin typeface="+mj-ea"/>
                <a:ea typeface="+mj-ea"/>
              </a:rPr>
              <a:t>행</a:t>
            </a:r>
            <a:r>
              <a:rPr lang="en-US" altLang="ko-KR" sz="1600" dirty="0">
                <a:latin typeface="+mj-ea"/>
                <a:ea typeface="+mj-ea"/>
              </a:rPr>
              <a:t>, 15</a:t>
            </a:r>
            <a:r>
              <a:rPr lang="ko-KR" altLang="en-US" sz="1600" dirty="0">
                <a:latin typeface="+mj-ea"/>
                <a:ea typeface="+mj-ea"/>
              </a:rPr>
              <a:t>열 → </a:t>
            </a:r>
            <a:r>
              <a:rPr lang="en-US" altLang="ko-KR" sz="1600" dirty="0">
                <a:latin typeface="+mj-ea"/>
                <a:ea typeface="+mj-ea"/>
              </a:rPr>
              <a:t>GPS </a:t>
            </a:r>
            <a:r>
              <a:rPr lang="ko-KR" altLang="en-US" sz="1600" dirty="0">
                <a:latin typeface="+mj-ea"/>
                <a:ea typeface="+mj-ea"/>
              </a:rPr>
              <a:t>정합 기사 데이터</a:t>
            </a:r>
          </a:p>
          <a:p>
            <a:pPr marL="0" indent="0">
              <a:buNone/>
            </a:pPr>
            <a:r>
              <a:rPr lang="en-US" altLang="ko-KR" sz="1600" dirty="0">
                <a:latin typeface="+mj-ea"/>
                <a:ea typeface="+mj-ea"/>
              </a:rPr>
              <a:t>• train.csv: 1,064,700</a:t>
            </a:r>
            <a:r>
              <a:rPr lang="ko-KR" altLang="en-US" sz="1600" dirty="0">
                <a:latin typeface="+mj-ea"/>
                <a:ea typeface="+mj-ea"/>
              </a:rPr>
              <a:t>행</a:t>
            </a:r>
            <a:r>
              <a:rPr lang="en-US" altLang="ko-KR" sz="1600" dirty="0">
                <a:latin typeface="+mj-ea"/>
                <a:ea typeface="+mj-ea"/>
              </a:rPr>
              <a:t>, 14</a:t>
            </a:r>
            <a:r>
              <a:rPr lang="ko-KR" altLang="en-US" sz="1600" dirty="0">
                <a:latin typeface="+mj-ea"/>
                <a:ea typeface="+mj-ea"/>
              </a:rPr>
              <a:t>열 → 학습용 데이터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 err="1">
                <a:latin typeface="+mj-ea"/>
                <a:ea typeface="+mj-ea"/>
              </a:rPr>
              <a:t>결측치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en-US" altLang="ko-KR" sz="1600" dirty="0">
                <a:latin typeface="+mj-ea"/>
                <a:ea typeface="+mj-ea"/>
              </a:rPr>
              <a:t>0</a:t>
            </a:r>
            <a:r>
              <a:rPr lang="en-US" altLang="ko-KR" sz="1600" dirty="0" smtClean="0">
                <a:latin typeface="+mj-ea"/>
                <a:ea typeface="+mj-ea"/>
              </a:rPr>
              <a:t>)</a:t>
            </a:r>
            <a:endParaRPr lang="en-US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 smtClean="0">
                <a:latin typeface="+mj-ea"/>
                <a:ea typeface="+mj-ea"/>
              </a:rPr>
              <a:t>1</a:t>
            </a:r>
            <a:r>
              <a:rPr sz="1600" dirty="0">
                <a:latin typeface="+mj-ea"/>
                <a:ea typeface="+mj-ea"/>
              </a:rPr>
              <a:t>. </a:t>
            </a:r>
            <a:r>
              <a:rPr sz="1600" dirty="0" err="1">
                <a:latin typeface="+mj-ea"/>
                <a:ea typeface="+mj-ea"/>
              </a:rPr>
              <a:t>중복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제거</a:t>
            </a:r>
            <a:r>
              <a:rPr sz="1600" dirty="0">
                <a:latin typeface="+mj-ea"/>
                <a:ea typeface="+mj-ea"/>
              </a:rPr>
              <a:t>: </a:t>
            </a:r>
            <a:r>
              <a:rPr sz="1600" dirty="0" err="1">
                <a:latin typeface="+mj-ea"/>
                <a:ea typeface="+mj-ea"/>
              </a:rPr>
              <a:t>delivery_user_id</a:t>
            </a:r>
            <a:r>
              <a:rPr sz="1600" dirty="0">
                <a:latin typeface="+mj-ea"/>
                <a:ea typeface="+mj-ea"/>
              </a:rPr>
              <a:t> + </a:t>
            </a:r>
            <a:r>
              <a:rPr sz="1600" dirty="0" err="1">
                <a:latin typeface="+mj-ea"/>
                <a:ea typeface="+mj-ea"/>
              </a:rPr>
              <a:t>gps_time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기준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lang="en-US" sz="1600" dirty="0" smtClean="0">
                <a:latin typeface="+mj-ea"/>
                <a:ea typeface="+mj-ea"/>
              </a:rPr>
              <a:t> 0</a:t>
            </a:r>
            <a:r>
              <a:rPr lang="ko-KR" altLang="en-US" sz="1600" dirty="0" smtClean="0">
                <a:latin typeface="+mj-ea"/>
                <a:ea typeface="+mj-ea"/>
              </a:rPr>
              <a:t>건</a:t>
            </a:r>
            <a:endParaRPr lang="en-US" altLang="ko-KR" sz="1600" dirty="0" smtClean="0">
              <a:latin typeface="+mj-ea"/>
              <a:ea typeface="+mj-ea"/>
            </a:endParaRPr>
          </a:p>
          <a:p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 smtClean="0">
                <a:latin typeface="+mj-ea"/>
                <a:ea typeface="+mj-ea"/>
              </a:rPr>
              <a:t>2</a:t>
            </a:r>
            <a:r>
              <a:rPr sz="1600" dirty="0">
                <a:latin typeface="+mj-ea"/>
                <a:ea typeface="+mj-ea"/>
              </a:rPr>
              <a:t>. </a:t>
            </a:r>
            <a:r>
              <a:rPr sz="1600" dirty="0" err="1">
                <a:latin typeface="+mj-ea"/>
                <a:ea typeface="+mj-ea"/>
              </a:rPr>
              <a:t>불균형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처리</a:t>
            </a:r>
            <a:r>
              <a:rPr sz="1600" dirty="0">
                <a:latin typeface="+mj-ea"/>
                <a:ea typeface="+mj-ea"/>
              </a:rPr>
              <a:t>: </a:t>
            </a:r>
            <a:r>
              <a:rPr lang="ko-KR" altLang="en-US" sz="1600" dirty="0" smtClean="0">
                <a:latin typeface="+mj-ea"/>
                <a:ea typeface="+mj-ea"/>
              </a:rPr>
              <a:t>거리</a:t>
            </a:r>
            <a:r>
              <a:rPr lang="en-US" altLang="ko-KR" sz="1600" dirty="0" smtClean="0">
                <a:latin typeface="+mj-ea"/>
                <a:ea typeface="+mj-ea"/>
              </a:rPr>
              <a:t>, </a:t>
            </a:r>
            <a:r>
              <a:rPr lang="ko-KR" altLang="en-US" sz="1600" dirty="0" smtClean="0">
                <a:latin typeface="+mj-ea"/>
                <a:ea typeface="+mj-ea"/>
              </a:rPr>
              <a:t>시간상 </a:t>
            </a:r>
            <a:r>
              <a:rPr sz="1600" dirty="0" err="1" smtClean="0">
                <a:latin typeface="+mj-ea"/>
                <a:ea typeface="+mj-ea"/>
              </a:rPr>
              <a:t>상위</a:t>
            </a:r>
            <a:r>
              <a:rPr sz="1600" dirty="0" smtClean="0">
                <a:latin typeface="+mj-ea"/>
                <a:ea typeface="+mj-ea"/>
              </a:rPr>
              <a:t> </a:t>
            </a:r>
            <a:r>
              <a:rPr sz="1600" dirty="0">
                <a:latin typeface="+mj-ea"/>
                <a:ea typeface="+mj-ea"/>
              </a:rPr>
              <a:t>10% </a:t>
            </a:r>
            <a:r>
              <a:rPr sz="1600" dirty="0" err="1">
                <a:latin typeface="+mj-ea"/>
                <a:ea typeface="+mj-ea"/>
              </a:rPr>
              <a:t>기사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데이터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 smtClean="0">
                <a:latin typeface="+mj-ea"/>
                <a:ea typeface="+mj-ea"/>
              </a:rPr>
              <a:t>집중</a:t>
            </a:r>
            <a:r>
              <a:rPr lang="en-US" sz="1600" dirty="0" smtClean="0">
                <a:latin typeface="+mj-ea"/>
                <a:ea typeface="+mj-ea"/>
              </a:rPr>
              <a:t>:</a:t>
            </a:r>
          </a:p>
          <a:p>
            <a:pPr marL="0" indent="0">
              <a:buNone/>
            </a:pPr>
            <a:r>
              <a:rPr sz="1600" dirty="0" smtClean="0">
                <a:latin typeface="+mj-ea"/>
                <a:ea typeface="+mj-ea"/>
              </a:rPr>
              <a:t>→ </a:t>
            </a:r>
            <a:r>
              <a:rPr sz="1600" dirty="0" err="1">
                <a:latin typeface="+mj-ea"/>
                <a:ea typeface="+mj-ea"/>
              </a:rPr>
              <a:t>groupby</a:t>
            </a:r>
            <a:r>
              <a:rPr sz="1600" dirty="0">
                <a:latin typeface="+mj-ea"/>
                <a:ea typeface="+mj-ea"/>
              </a:rPr>
              <a:t>().sample() + </a:t>
            </a:r>
            <a:r>
              <a:rPr sz="1600" dirty="0" err="1" smtClean="0">
                <a:latin typeface="+mj-ea"/>
                <a:ea typeface="+mj-ea"/>
              </a:rPr>
              <a:t>scale_pos_weight</a:t>
            </a:r>
            <a:r>
              <a:rPr sz="1600" dirty="0" smtClean="0">
                <a:latin typeface="+mj-ea"/>
                <a:ea typeface="+mj-ea"/>
              </a:rPr>
              <a:t>=3</a:t>
            </a:r>
            <a:endParaRPr lang="en-US" sz="1600" dirty="0" smtClean="0">
              <a:latin typeface="+mj-ea"/>
              <a:ea typeface="+mj-ea"/>
            </a:endParaRPr>
          </a:p>
          <a:p>
            <a:endParaRPr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>
                <a:latin typeface="+mj-ea"/>
                <a:ea typeface="+mj-ea"/>
              </a:rPr>
              <a:t>3. GPS </a:t>
            </a:r>
            <a:r>
              <a:rPr sz="1600" dirty="0" err="1">
                <a:latin typeface="+mj-ea"/>
                <a:ea typeface="+mj-ea"/>
              </a:rPr>
              <a:t>병합</a:t>
            </a:r>
            <a:r>
              <a:rPr sz="1600" dirty="0">
                <a:latin typeface="+mj-ea"/>
                <a:ea typeface="+mj-ea"/>
              </a:rPr>
              <a:t> 및 </a:t>
            </a:r>
            <a:r>
              <a:rPr sz="1600" dirty="0" err="1">
                <a:latin typeface="+mj-ea"/>
                <a:ea typeface="+mj-ea"/>
              </a:rPr>
              <a:t>결측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제거</a:t>
            </a:r>
            <a:r>
              <a:rPr sz="1600" dirty="0">
                <a:latin typeface="+mj-ea"/>
                <a:ea typeface="+mj-ea"/>
              </a:rPr>
              <a:t>: </a:t>
            </a:r>
            <a:r>
              <a:rPr sz="1600" dirty="0" err="1">
                <a:latin typeface="+mj-ea"/>
                <a:ea typeface="+mj-ea"/>
              </a:rPr>
              <a:t>merge_asof</a:t>
            </a:r>
            <a:r>
              <a:rPr sz="1600" dirty="0">
                <a:latin typeface="+mj-ea"/>
                <a:ea typeface="+mj-ea"/>
              </a:rPr>
              <a:t>() + </a:t>
            </a:r>
            <a:r>
              <a:rPr sz="1600" dirty="0" err="1">
                <a:latin typeface="+mj-ea"/>
                <a:ea typeface="+mj-ea"/>
              </a:rPr>
              <a:t>notnull</a:t>
            </a:r>
            <a:r>
              <a:rPr sz="1600" dirty="0">
                <a:latin typeface="+mj-ea"/>
                <a:ea typeface="+mj-ea"/>
              </a:rPr>
              <a:t>() → </a:t>
            </a:r>
            <a:r>
              <a:rPr sz="1600" dirty="0" err="1" smtClean="0">
                <a:latin typeface="+mj-ea"/>
                <a:ea typeface="+mj-ea"/>
              </a:rPr>
              <a:t>결측치</a:t>
            </a:r>
            <a:r>
              <a:rPr sz="1600" dirty="0" smtClean="0">
                <a:latin typeface="+mj-ea"/>
                <a:ea typeface="+mj-ea"/>
              </a:rPr>
              <a:t> </a:t>
            </a:r>
            <a:r>
              <a:rPr sz="1600" dirty="0">
                <a:latin typeface="+mj-ea"/>
                <a:ea typeface="+mj-ea"/>
              </a:rPr>
              <a:t>0, 239,618건 </a:t>
            </a:r>
            <a:r>
              <a:rPr sz="1600" dirty="0" err="1" smtClean="0">
                <a:latin typeface="+mj-ea"/>
                <a:ea typeface="+mj-ea"/>
              </a:rPr>
              <a:t>유지</a:t>
            </a:r>
            <a:endParaRPr lang="en-US" sz="1600" dirty="0" smtClean="0">
              <a:latin typeface="+mj-ea"/>
              <a:ea typeface="+mj-ea"/>
            </a:endParaRPr>
          </a:p>
          <a:p>
            <a:endParaRPr lang="en-US" sz="1600" dirty="0" smtClean="0">
              <a:latin typeface="+mj-ea"/>
              <a:ea typeface="+mj-ea"/>
            </a:endParaRPr>
          </a:p>
          <a:p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>
                <a:latin typeface="+mj-ea"/>
                <a:ea typeface="+mj-ea"/>
              </a:rPr>
              <a:t>4. </a:t>
            </a:r>
            <a:r>
              <a:rPr sz="1600" dirty="0" err="1">
                <a:latin typeface="+mj-ea"/>
                <a:ea typeface="+mj-ea"/>
              </a:rPr>
              <a:t>파생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피처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 smtClean="0">
                <a:latin typeface="+mj-ea"/>
                <a:ea typeface="+mj-ea"/>
              </a:rPr>
              <a:t>생성</a:t>
            </a:r>
            <a:r>
              <a:rPr lang="en-US" sz="1600" dirty="0" smtClean="0">
                <a:latin typeface="+mj-ea"/>
                <a:ea typeface="+mj-ea"/>
              </a:rPr>
              <a:t>:</a:t>
            </a: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 err="1" smtClean="0">
                <a:latin typeface="+mj-ea"/>
                <a:ea typeface="+mj-ea"/>
              </a:rPr>
              <a:t>distance_km</a:t>
            </a:r>
            <a:r>
              <a:rPr sz="1600" dirty="0" smtClean="0">
                <a:latin typeface="+mj-ea"/>
                <a:ea typeface="+mj-ea"/>
              </a:rPr>
              <a:t> (</a:t>
            </a:r>
            <a:r>
              <a:rPr lang="ko-KR" altLang="en-US" sz="1600" dirty="0" smtClean="0">
                <a:latin typeface="+mj-ea"/>
                <a:ea typeface="+mj-ea"/>
              </a:rPr>
              <a:t>위도</a:t>
            </a:r>
            <a:r>
              <a:rPr lang="en-US" altLang="ko-KR" sz="1600" dirty="0" smtClean="0">
                <a:latin typeface="+mj-ea"/>
                <a:ea typeface="+mj-ea"/>
              </a:rPr>
              <a:t>,</a:t>
            </a:r>
            <a:r>
              <a:rPr lang="ko-KR" altLang="en-US" sz="1600" dirty="0" smtClean="0">
                <a:latin typeface="+mj-ea"/>
                <a:ea typeface="+mj-ea"/>
              </a:rPr>
              <a:t> 경도</a:t>
            </a:r>
            <a:r>
              <a:rPr sz="1600" dirty="0" smtClean="0">
                <a:latin typeface="+mj-ea"/>
                <a:ea typeface="+mj-ea"/>
              </a:rPr>
              <a:t>)</a:t>
            </a:r>
            <a:endParaRPr lang="en-US" sz="16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 smtClean="0">
                <a:latin typeface="+mj-ea"/>
                <a:ea typeface="+mj-ea"/>
              </a:rPr>
              <a:t>hour</a:t>
            </a:r>
            <a:r>
              <a:rPr sz="1600" dirty="0">
                <a:latin typeface="+mj-ea"/>
                <a:ea typeface="+mj-ea"/>
              </a:rPr>
              <a:t>, weekday (</a:t>
            </a:r>
            <a:r>
              <a:rPr sz="1600" dirty="0" err="1">
                <a:latin typeface="+mj-ea"/>
                <a:ea typeface="+mj-ea"/>
              </a:rPr>
              <a:t>시간</a:t>
            </a:r>
            <a:r>
              <a:rPr sz="1600" dirty="0">
                <a:latin typeface="+mj-ea"/>
                <a:ea typeface="+mj-ea"/>
              </a:rPr>
              <a:t>/</a:t>
            </a:r>
            <a:r>
              <a:rPr sz="1600" dirty="0" err="1">
                <a:latin typeface="+mj-ea"/>
                <a:ea typeface="+mj-ea"/>
              </a:rPr>
              <a:t>요일</a:t>
            </a:r>
            <a:r>
              <a:rPr sz="1600" dirty="0" smtClean="0">
                <a:latin typeface="+mj-ea"/>
                <a:ea typeface="+mj-ea"/>
              </a:rPr>
              <a:t>)</a:t>
            </a:r>
            <a:endParaRPr lang="en-US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 smtClean="0">
                <a:latin typeface="+mj-ea"/>
                <a:ea typeface="+mj-ea"/>
              </a:rPr>
              <a:t>rank </a:t>
            </a:r>
            <a:r>
              <a:rPr sz="1600" dirty="0">
                <a:latin typeface="+mj-ea"/>
                <a:ea typeface="+mj-ea"/>
              </a:rPr>
              <a:t>(</a:t>
            </a:r>
            <a:r>
              <a:rPr sz="1600" dirty="0" err="1">
                <a:latin typeface="+mj-ea"/>
                <a:ea typeface="+mj-ea"/>
              </a:rPr>
              <a:t>화물</a:t>
            </a:r>
            <a:r>
              <a:rPr sz="1600" dirty="0">
                <a:latin typeface="+mj-ea"/>
                <a:ea typeface="+mj-ea"/>
              </a:rPr>
              <a:t> 내 </a:t>
            </a:r>
            <a:r>
              <a:rPr sz="1600" dirty="0" err="1">
                <a:latin typeface="+mj-ea"/>
                <a:ea typeface="+mj-ea"/>
              </a:rPr>
              <a:t>거리순</a:t>
            </a:r>
            <a:r>
              <a:rPr sz="1600" dirty="0" smtClean="0">
                <a:latin typeface="+mj-ea"/>
                <a:ea typeface="+mj-ea"/>
              </a:rPr>
              <a:t>)</a:t>
            </a:r>
            <a:endParaRPr lang="en-US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600" dirty="0" smtClean="0">
                <a:latin typeface="+mj-ea"/>
                <a:ea typeface="+mj-ea"/>
              </a:rPr>
              <a:t>label </a:t>
            </a:r>
            <a:r>
              <a:rPr sz="1600" dirty="0">
                <a:latin typeface="+mj-ea"/>
                <a:ea typeface="+mj-ea"/>
              </a:rPr>
              <a:t>(</a:t>
            </a:r>
            <a:r>
              <a:rPr sz="1600" dirty="0" err="1">
                <a:latin typeface="+mj-ea"/>
                <a:ea typeface="+mj-ea"/>
              </a:rPr>
              <a:t>실제</a:t>
            </a:r>
            <a:r>
              <a:rPr sz="1600" dirty="0">
                <a:latin typeface="+mj-ea"/>
                <a:ea typeface="+mj-ea"/>
              </a:rPr>
              <a:t> </a:t>
            </a:r>
            <a:r>
              <a:rPr sz="1600" dirty="0" err="1">
                <a:latin typeface="+mj-ea"/>
                <a:ea typeface="+mj-ea"/>
              </a:rPr>
              <a:t>매칭</a:t>
            </a:r>
            <a:r>
              <a:rPr sz="1600" dirty="0">
                <a:latin typeface="+mj-ea"/>
                <a:ea typeface="+mj-ea"/>
              </a:rPr>
              <a:t>=1, </a:t>
            </a:r>
            <a:r>
              <a:rPr sz="1600" dirty="0" err="1">
                <a:latin typeface="+mj-ea"/>
                <a:ea typeface="+mj-ea"/>
              </a:rPr>
              <a:t>비매칭</a:t>
            </a:r>
            <a:r>
              <a:rPr sz="1600" dirty="0">
                <a:latin typeface="+mj-ea"/>
                <a:ea typeface="+mj-ea"/>
              </a:rPr>
              <a:t>=0)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65" y="3489062"/>
            <a:ext cx="2730208" cy="12260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484" y="3463558"/>
            <a:ext cx="2048072" cy="26629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4. </a:t>
            </a:r>
            <a:r>
              <a:rPr sz="3600" dirty="0" err="1">
                <a:latin typeface="+mj-ea"/>
              </a:rPr>
              <a:t>모델</a:t>
            </a:r>
            <a:r>
              <a:rPr sz="3600" dirty="0">
                <a:latin typeface="+mj-ea"/>
              </a:rPr>
              <a:t> </a:t>
            </a:r>
            <a:r>
              <a:rPr sz="3600" dirty="0" err="1">
                <a:latin typeface="+mj-ea"/>
              </a:rPr>
              <a:t>구조</a:t>
            </a:r>
            <a:r>
              <a:rPr sz="3600" dirty="0">
                <a:latin typeface="+mj-ea"/>
              </a:rPr>
              <a:t> 및 </a:t>
            </a:r>
            <a:r>
              <a:rPr sz="3600" dirty="0" err="1">
                <a:latin typeface="+mj-ea"/>
              </a:rPr>
              <a:t>파라미터</a:t>
            </a:r>
            <a:endParaRPr sz="3600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 err="1">
                <a:latin typeface="+mj-ea"/>
                <a:ea typeface="+mj-ea"/>
              </a:rPr>
              <a:t>모델명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XGBoostClassifier</a:t>
            </a: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>
                <a:latin typeface="+mj-ea"/>
                <a:ea typeface="+mj-ea"/>
              </a:rPr>
              <a:t>Objective: </a:t>
            </a:r>
            <a:r>
              <a:rPr sz="1500" dirty="0" err="1">
                <a:latin typeface="+mj-ea"/>
                <a:ea typeface="+mj-ea"/>
              </a:rPr>
              <a:t>binary:logistic</a:t>
            </a: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 err="1">
                <a:latin typeface="+mj-ea"/>
                <a:ea typeface="+mj-ea"/>
              </a:rPr>
              <a:t>Eval_metric</a:t>
            </a:r>
            <a:r>
              <a:rPr sz="1500" dirty="0">
                <a:latin typeface="+mj-ea"/>
                <a:ea typeface="+mj-ea"/>
              </a:rPr>
              <a:t>: AUC</a:t>
            </a:r>
          </a:p>
          <a:p>
            <a:pPr marL="0" indent="0">
              <a:buNone/>
            </a:pPr>
            <a:r>
              <a:rPr sz="1500" dirty="0" err="1">
                <a:latin typeface="+mj-ea"/>
                <a:ea typeface="+mj-ea"/>
              </a:rPr>
              <a:t>학습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데이터</a:t>
            </a:r>
            <a:r>
              <a:rPr sz="1500" dirty="0">
                <a:latin typeface="+mj-ea"/>
                <a:ea typeface="+mj-ea"/>
              </a:rPr>
              <a:t>: train.csv (1,064,700행)</a:t>
            </a:r>
          </a:p>
          <a:p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 err="1">
                <a:latin typeface="+mj-ea"/>
                <a:ea typeface="+mj-ea"/>
              </a:rPr>
              <a:t>주요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파라미터</a:t>
            </a:r>
            <a:r>
              <a:rPr sz="1500" dirty="0" smtClean="0">
                <a:latin typeface="+mj-ea"/>
                <a:ea typeface="+mj-ea"/>
              </a:rPr>
              <a:t>: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 err="1" smtClean="0">
                <a:latin typeface="+mj-ea"/>
                <a:ea typeface="+mj-ea"/>
              </a:rPr>
              <a:t>max_depth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>
                <a:latin typeface="+mj-ea"/>
                <a:ea typeface="+mj-ea"/>
              </a:rPr>
              <a:t>= </a:t>
            </a:r>
            <a:r>
              <a:rPr sz="1500" dirty="0" smtClean="0">
                <a:latin typeface="+mj-ea"/>
                <a:ea typeface="+mj-ea"/>
              </a:rPr>
              <a:t>8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 err="1" smtClean="0">
                <a:latin typeface="+mj-ea"/>
                <a:ea typeface="+mj-ea"/>
              </a:rPr>
              <a:t>learning_rate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>
                <a:latin typeface="+mj-ea"/>
                <a:ea typeface="+mj-ea"/>
              </a:rPr>
              <a:t>= </a:t>
            </a:r>
            <a:r>
              <a:rPr sz="1500" dirty="0" smtClean="0">
                <a:latin typeface="+mj-ea"/>
                <a:ea typeface="+mj-ea"/>
              </a:rPr>
              <a:t>0.1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 err="1" smtClean="0">
                <a:latin typeface="+mj-ea"/>
                <a:ea typeface="+mj-ea"/>
              </a:rPr>
              <a:t>n_estimators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>
                <a:latin typeface="+mj-ea"/>
                <a:ea typeface="+mj-ea"/>
              </a:rPr>
              <a:t>= 200</a:t>
            </a:r>
          </a:p>
          <a:p>
            <a:pPr marL="0" indent="0">
              <a:buNone/>
            </a:pPr>
            <a:r>
              <a:rPr sz="1500" dirty="0" smtClean="0">
                <a:latin typeface="+mj-ea"/>
                <a:ea typeface="+mj-ea"/>
              </a:rPr>
              <a:t>subsample </a:t>
            </a:r>
            <a:r>
              <a:rPr sz="1500" dirty="0">
                <a:latin typeface="+mj-ea"/>
                <a:ea typeface="+mj-ea"/>
              </a:rPr>
              <a:t>= 0.8</a:t>
            </a:r>
          </a:p>
          <a:p>
            <a:pPr marL="0" indent="0">
              <a:buNone/>
            </a:pPr>
            <a:r>
              <a:rPr sz="1500" dirty="0" err="1" smtClean="0">
                <a:latin typeface="+mj-ea"/>
                <a:ea typeface="+mj-ea"/>
              </a:rPr>
              <a:t>colsample_bytree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>
                <a:latin typeface="+mj-ea"/>
                <a:ea typeface="+mj-ea"/>
              </a:rPr>
              <a:t>= 0.8</a:t>
            </a:r>
          </a:p>
          <a:p>
            <a:pPr marL="0" indent="0">
              <a:buNone/>
            </a:pPr>
            <a:r>
              <a:rPr sz="1500" dirty="0" err="1" smtClean="0">
                <a:latin typeface="+mj-ea"/>
                <a:ea typeface="+mj-ea"/>
              </a:rPr>
              <a:t>scale_pos_weight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>
                <a:latin typeface="+mj-ea"/>
                <a:ea typeface="+mj-ea"/>
              </a:rPr>
              <a:t>= 3</a:t>
            </a:r>
          </a:p>
          <a:p>
            <a:pPr marL="0" indent="0">
              <a:buNone/>
            </a:pP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 err="1" smtClean="0">
                <a:latin typeface="+mj-ea"/>
                <a:ea typeface="+mj-ea"/>
              </a:rPr>
              <a:t>Train:Validation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>
                <a:latin typeface="+mj-ea"/>
                <a:ea typeface="+mj-ea"/>
              </a:rPr>
              <a:t>= 8:2 / Early stopping: 20 rounds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5. </a:t>
            </a:r>
            <a:r>
              <a:rPr sz="3600" dirty="0" err="1" smtClean="0">
                <a:latin typeface="+mj-ea"/>
              </a:rPr>
              <a:t>모델</a:t>
            </a:r>
            <a:r>
              <a:rPr lang="en-US" sz="3600" dirty="0" smtClean="0">
                <a:latin typeface="+mj-ea"/>
              </a:rPr>
              <a:t> </a:t>
            </a:r>
            <a:r>
              <a:rPr sz="3600" dirty="0" err="1" smtClean="0">
                <a:latin typeface="+mj-ea"/>
              </a:rPr>
              <a:t>학습</a:t>
            </a:r>
            <a:r>
              <a:rPr lang="en-US" sz="3600" dirty="0" smtClean="0">
                <a:latin typeface="+mj-ea"/>
              </a:rPr>
              <a:t> </a:t>
            </a:r>
            <a:r>
              <a:rPr sz="3600" dirty="0" err="1" smtClean="0">
                <a:latin typeface="+mj-ea"/>
              </a:rPr>
              <a:t>결과</a:t>
            </a:r>
            <a:endParaRPr sz="3600" dirty="0">
              <a:latin typeface="+mj-ea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61529"/>
              </p:ext>
            </p:extLst>
          </p:nvPr>
        </p:nvGraphicFramePr>
        <p:xfrm>
          <a:off x="1828800" y="18288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직사각형 3"/>
          <p:cNvSpPr/>
          <p:nvPr/>
        </p:nvSpPr>
        <p:spPr>
          <a:xfrm>
            <a:off x="2850513" y="5073134"/>
            <a:ext cx="40964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j-ea"/>
                <a:ea typeface="+mj-ea"/>
              </a:rPr>
              <a:t>Validation Accuracy: 0.9949 / AUC: 0.9998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6. </a:t>
            </a:r>
            <a:r>
              <a:rPr sz="3600" dirty="0" err="1" smtClean="0">
                <a:latin typeface="+mj-ea"/>
              </a:rPr>
              <a:t>매칭결과</a:t>
            </a:r>
            <a:r>
              <a:rPr sz="3600" dirty="0" smtClean="0">
                <a:latin typeface="+mj-ea"/>
              </a:rPr>
              <a:t> (</a:t>
            </a:r>
            <a:r>
              <a:rPr lang="ko-KR" altLang="en-US" sz="3600" dirty="0" smtClean="0">
                <a:latin typeface="+mj-ea"/>
              </a:rPr>
              <a:t>예측 및</a:t>
            </a:r>
            <a:r>
              <a:rPr sz="3600" dirty="0" smtClean="0">
                <a:latin typeface="+mj-ea"/>
              </a:rPr>
              <a:t> </a:t>
            </a:r>
            <a:r>
              <a:rPr sz="3600" dirty="0" err="1">
                <a:latin typeface="+mj-ea"/>
              </a:rPr>
              <a:t>배차</a:t>
            </a:r>
            <a:r>
              <a:rPr sz="3600" dirty="0">
                <a:latin typeface="+mj-ea"/>
              </a:rPr>
              <a:t>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10826" y="5504170"/>
            <a:ext cx="737381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dirty="0" err="1" smtClean="0">
                <a:latin typeface="+mj-ea"/>
                <a:ea typeface="+mj-ea"/>
              </a:rPr>
              <a:t>파란점</a:t>
            </a:r>
            <a:r>
              <a:rPr lang="en-US" altLang="ko-KR" sz="1500" dirty="0" smtClean="0">
                <a:latin typeface="+mj-ea"/>
                <a:ea typeface="+mj-ea"/>
              </a:rPr>
              <a:t>: </a:t>
            </a:r>
            <a:r>
              <a:rPr lang="ko-KR" altLang="en-US" sz="1500" dirty="0" smtClean="0">
                <a:latin typeface="+mj-ea"/>
                <a:ea typeface="+mj-ea"/>
              </a:rPr>
              <a:t>화물 위치</a:t>
            </a:r>
            <a:r>
              <a:rPr lang="en-US" altLang="ko-KR" sz="1500" dirty="0" smtClean="0">
                <a:latin typeface="+mj-ea"/>
                <a:ea typeface="+mj-ea"/>
              </a:rPr>
              <a:t>        </a:t>
            </a:r>
            <a:r>
              <a:rPr lang="ko-KR" altLang="en-US" sz="1500" dirty="0" err="1" smtClean="0">
                <a:latin typeface="+mj-ea"/>
                <a:ea typeface="+mj-ea"/>
              </a:rPr>
              <a:t>초록점</a:t>
            </a:r>
            <a:r>
              <a:rPr lang="en-US" altLang="ko-KR" sz="1500" dirty="0" smtClean="0">
                <a:latin typeface="+mj-ea"/>
                <a:ea typeface="+mj-ea"/>
              </a:rPr>
              <a:t>: 1</a:t>
            </a:r>
            <a:r>
              <a:rPr lang="ko-KR" altLang="en-US" sz="1500" dirty="0" smtClean="0">
                <a:latin typeface="+mj-ea"/>
                <a:ea typeface="+mj-ea"/>
              </a:rPr>
              <a:t>순위 기사</a:t>
            </a:r>
            <a:r>
              <a:rPr lang="en-US" altLang="ko-KR" sz="1500" dirty="0">
                <a:latin typeface="+mj-ea"/>
                <a:ea typeface="+mj-ea"/>
              </a:rPr>
              <a:t> </a:t>
            </a:r>
            <a:r>
              <a:rPr lang="en-US" altLang="ko-KR" sz="1500" dirty="0" smtClean="0">
                <a:latin typeface="+mj-ea"/>
                <a:ea typeface="+mj-ea"/>
              </a:rPr>
              <a:t>    </a:t>
            </a:r>
            <a:r>
              <a:rPr lang="ko-KR" altLang="en-US" sz="1500" dirty="0" err="1" smtClean="0">
                <a:latin typeface="+mj-ea"/>
                <a:ea typeface="+mj-ea"/>
              </a:rPr>
              <a:t>노란점</a:t>
            </a:r>
            <a:r>
              <a:rPr lang="en-US" altLang="ko-KR" sz="1500" dirty="0" smtClean="0">
                <a:latin typeface="+mj-ea"/>
                <a:ea typeface="+mj-ea"/>
              </a:rPr>
              <a:t>: 2</a:t>
            </a:r>
            <a:r>
              <a:rPr lang="ko-KR" altLang="en-US" sz="1500" dirty="0" smtClean="0">
                <a:latin typeface="+mj-ea"/>
                <a:ea typeface="+mj-ea"/>
              </a:rPr>
              <a:t>순위 기사</a:t>
            </a:r>
            <a:endParaRPr lang="en-US" altLang="ko-KR" sz="1500" dirty="0" smtClean="0">
              <a:latin typeface="+mj-ea"/>
              <a:ea typeface="+mj-ea"/>
            </a:endParaRPr>
          </a:p>
          <a:p>
            <a:endParaRPr lang="en-US" altLang="ko-KR" sz="1500" dirty="0">
              <a:latin typeface="+mj-ea"/>
              <a:ea typeface="+mj-ea"/>
            </a:endParaRPr>
          </a:p>
          <a:p>
            <a:r>
              <a:rPr lang="ko-KR" altLang="en-US" sz="1500" dirty="0" smtClean="0">
                <a:latin typeface="+mj-ea"/>
                <a:ea typeface="+mj-ea"/>
              </a:rPr>
              <a:t>                 </a:t>
            </a:r>
            <a:r>
              <a:rPr lang="ko-KR" altLang="en-US" sz="1500" dirty="0" err="1" smtClean="0">
                <a:latin typeface="+mj-ea"/>
                <a:ea typeface="+mj-ea"/>
              </a:rPr>
              <a:t>주황점</a:t>
            </a:r>
            <a:r>
              <a:rPr lang="en-US" altLang="ko-KR" sz="1500" dirty="0" smtClean="0">
                <a:latin typeface="+mj-ea"/>
                <a:ea typeface="+mj-ea"/>
              </a:rPr>
              <a:t>: 3</a:t>
            </a:r>
            <a:r>
              <a:rPr lang="ko-KR" altLang="en-US" sz="1500" dirty="0" smtClean="0">
                <a:latin typeface="+mj-ea"/>
                <a:ea typeface="+mj-ea"/>
              </a:rPr>
              <a:t>순위 기사</a:t>
            </a:r>
            <a:r>
              <a:rPr lang="en-US" altLang="ko-KR" sz="1500" dirty="0">
                <a:latin typeface="+mj-ea"/>
                <a:ea typeface="+mj-ea"/>
              </a:rPr>
              <a:t> </a:t>
            </a:r>
            <a:r>
              <a:rPr lang="en-US" altLang="ko-KR" sz="1500" dirty="0" smtClean="0">
                <a:latin typeface="+mj-ea"/>
                <a:ea typeface="+mj-ea"/>
              </a:rPr>
              <a:t>     </a:t>
            </a:r>
            <a:r>
              <a:rPr lang="ko-KR" altLang="en-US" sz="1500" dirty="0" err="1" smtClean="0">
                <a:latin typeface="+mj-ea"/>
                <a:ea typeface="+mj-ea"/>
              </a:rPr>
              <a:t>빨간점</a:t>
            </a:r>
            <a:r>
              <a:rPr lang="en-US" altLang="ko-KR" sz="1500" dirty="0">
                <a:latin typeface="+mj-ea"/>
                <a:ea typeface="+mj-ea"/>
              </a:rPr>
              <a:t>: </a:t>
            </a:r>
            <a:r>
              <a:rPr lang="ko-KR" altLang="en-US" sz="1500" dirty="0">
                <a:latin typeface="+mj-ea"/>
                <a:ea typeface="+mj-ea"/>
              </a:rPr>
              <a:t>근처의 </a:t>
            </a:r>
            <a:r>
              <a:rPr lang="ko-KR" altLang="en-US" sz="1500" dirty="0" smtClean="0">
                <a:latin typeface="+mj-ea"/>
                <a:ea typeface="+mj-ea"/>
              </a:rPr>
              <a:t>다른 기사 </a:t>
            </a:r>
            <a:endParaRPr lang="ko-KR" altLang="en-US" sz="1500" dirty="0">
              <a:latin typeface="+mj-ea"/>
              <a:ea typeface="+mj-ea"/>
            </a:endParaRPr>
          </a:p>
        </p:txBody>
      </p:sp>
      <p:pic>
        <p:nvPicPr>
          <p:cNvPr id="9" name="내용 개체 틀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7511" y="1248785"/>
            <a:ext cx="4261281" cy="392295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07" y="1252728"/>
            <a:ext cx="4208015" cy="39229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7. </a:t>
            </a:r>
            <a:r>
              <a:rPr lang="ko-KR" altLang="en-US" sz="3600" dirty="0" smtClean="0">
                <a:latin typeface="+mj-ea"/>
              </a:rPr>
              <a:t>원인분석</a:t>
            </a:r>
            <a:endParaRPr sz="3600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dirty="0">
                <a:latin typeface="+mj-ea"/>
                <a:ea typeface="+mj-ea"/>
              </a:rPr>
              <a:t>• </a:t>
            </a:r>
            <a:r>
              <a:rPr sz="1500" dirty="0" err="1">
                <a:latin typeface="+mj-ea"/>
                <a:ea typeface="+mj-ea"/>
              </a:rPr>
              <a:t>데이터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구조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착시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과거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배차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기록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복제</a:t>
            </a:r>
            <a:r>
              <a:rPr sz="1500" dirty="0">
                <a:latin typeface="+mj-ea"/>
                <a:ea typeface="+mj-ea"/>
              </a:rPr>
              <a:t> → </a:t>
            </a:r>
            <a:r>
              <a:rPr lang="ko-KR" altLang="en-US" sz="1500" dirty="0" smtClean="0">
                <a:latin typeface="+mj-ea"/>
                <a:ea typeface="+mj-ea"/>
              </a:rPr>
              <a:t>실</a:t>
            </a:r>
            <a:r>
              <a:rPr sz="1500" dirty="0" err="1" smtClean="0">
                <a:latin typeface="+mj-ea"/>
                <a:ea typeface="+mj-ea"/>
              </a:rPr>
              <a:t>가용성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반영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smtClean="0">
                <a:latin typeface="+mj-ea"/>
                <a:ea typeface="+mj-ea"/>
              </a:rPr>
              <a:t>X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>
                <a:latin typeface="+mj-ea"/>
                <a:ea typeface="+mj-ea"/>
              </a:rPr>
              <a:t>• </a:t>
            </a:r>
            <a:r>
              <a:rPr sz="1500" dirty="0" err="1">
                <a:latin typeface="+mj-ea"/>
                <a:ea typeface="+mj-ea"/>
              </a:rPr>
              <a:t>피처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 smtClean="0">
                <a:latin typeface="+mj-ea"/>
                <a:ea typeface="+mj-ea"/>
              </a:rPr>
              <a:t>부족</a:t>
            </a:r>
            <a:r>
              <a:rPr lang="en-US" sz="1500" dirty="0" smtClean="0">
                <a:latin typeface="+mj-ea"/>
                <a:ea typeface="+mj-ea"/>
              </a:rPr>
              <a:t>(</a:t>
            </a:r>
            <a:r>
              <a:rPr lang="ko-KR" altLang="en-US" sz="1500" dirty="0" smtClean="0">
                <a:latin typeface="+mj-ea"/>
                <a:ea typeface="+mj-ea"/>
              </a:rPr>
              <a:t>단순 구조</a:t>
            </a:r>
            <a:r>
              <a:rPr lang="en-US" altLang="ko-KR" sz="1500" dirty="0" smtClean="0">
                <a:latin typeface="+mj-ea"/>
                <a:ea typeface="+mj-ea"/>
              </a:rPr>
              <a:t>)</a:t>
            </a:r>
            <a:r>
              <a:rPr sz="1500" dirty="0" smtClean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거리</a:t>
            </a:r>
            <a:r>
              <a:rPr sz="1500" dirty="0">
                <a:latin typeface="+mj-ea"/>
                <a:ea typeface="+mj-ea"/>
              </a:rPr>
              <a:t>/</a:t>
            </a:r>
            <a:r>
              <a:rPr sz="1500" dirty="0" err="1">
                <a:latin typeface="+mj-ea"/>
                <a:ea typeface="+mj-ea"/>
              </a:rPr>
              <a:t>시간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중심</a:t>
            </a:r>
            <a:r>
              <a:rPr sz="1500" dirty="0">
                <a:latin typeface="+mj-ea"/>
                <a:ea typeface="+mj-ea"/>
              </a:rPr>
              <a:t> → </a:t>
            </a:r>
            <a:r>
              <a:rPr sz="1500" dirty="0" err="1">
                <a:latin typeface="+mj-ea"/>
                <a:ea typeface="+mj-ea"/>
              </a:rPr>
              <a:t>실제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운행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제약</a:t>
            </a:r>
            <a:r>
              <a:rPr sz="1500" dirty="0">
                <a:latin typeface="+mj-ea"/>
                <a:ea typeface="+mj-ea"/>
              </a:rPr>
              <a:t>(</a:t>
            </a:r>
            <a:r>
              <a:rPr sz="1500" dirty="0" err="1">
                <a:latin typeface="+mj-ea"/>
                <a:ea typeface="+mj-ea"/>
              </a:rPr>
              <a:t>차종</a:t>
            </a:r>
            <a:r>
              <a:rPr sz="1500" dirty="0">
                <a:latin typeface="+mj-ea"/>
                <a:ea typeface="+mj-ea"/>
              </a:rPr>
              <a:t>, </a:t>
            </a:r>
            <a:r>
              <a:rPr sz="1500" dirty="0" err="1">
                <a:latin typeface="+mj-ea"/>
                <a:ea typeface="+mj-ea"/>
              </a:rPr>
              <a:t>오프라인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상태</a:t>
            </a:r>
            <a:r>
              <a:rPr sz="1500" dirty="0">
                <a:latin typeface="+mj-ea"/>
                <a:ea typeface="+mj-ea"/>
              </a:rPr>
              <a:t> 등) </a:t>
            </a:r>
            <a:r>
              <a:rPr sz="1500" dirty="0" err="1" smtClean="0">
                <a:latin typeface="+mj-ea"/>
                <a:ea typeface="+mj-ea"/>
              </a:rPr>
              <a:t>미포함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sz="1500" dirty="0">
                <a:latin typeface="+mj-ea"/>
                <a:ea typeface="+mj-ea"/>
              </a:rPr>
              <a:t>• </a:t>
            </a:r>
            <a:r>
              <a:rPr sz="1500" dirty="0" err="1">
                <a:latin typeface="+mj-ea"/>
                <a:ea typeface="+mj-ea"/>
              </a:rPr>
              <a:t>데이터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불균형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일부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기사에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smtClean="0">
                <a:latin typeface="+mj-ea"/>
                <a:ea typeface="+mj-ea"/>
              </a:rPr>
              <a:t>label=1</a:t>
            </a:r>
            <a:r>
              <a:rPr lang="en-US" sz="1500" dirty="0" smtClean="0">
                <a:latin typeface="+mj-ea"/>
                <a:ea typeface="+mj-ea"/>
              </a:rPr>
              <a:t>(</a:t>
            </a:r>
            <a:r>
              <a:rPr lang="ko-KR" altLang="en-US" sz="1500" dirty="0" smtClean="0">
                <a:latin typeface="+mj-ea"/>
                <a:ea typeface="+mj-ea"/>
              </a:rPr>
              <a:t>매치</a:t>
            </a:r>
            <a:r>
              <a:rPr lang="en-US" altLang="ko-KR" sz="1500" dirty="0" smtClean="0">
                <a:latin typeface="+mj-ea"/>
                <a:ea typeface="+mj-ea"/>
              </a:rPr>
              <a:t>)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집중</a:t>
            </a:r>
            <a:r>
              <a:rPr sz="1500" dirty="0">
                <a:latin typeface="+mj-ea"/>
                <a:ea typeface="+mj-ea"/>
              </a:rPr>
              <a:t> → </a:t>
            </a:r>
            <a:r>
              <a:rPr sz="1500" dirty="0" err="1">
                <a:latin typeface="+mj-ea"/>
                <a:ea typeface="+mj-ea"/>
              </a:rPr>
              <a:t>확률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쏠림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 smtClean="0">
                <a:latin typeface="+mj-ea"/>
                <a:ea typeface="+mj-ea"/>
              </a:rPr>
              <a:t>현상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sz="1500" dirty="0">
                <a:latin typeface="+mj-ea"/>
                <a:ea typeface="+mj-ea"/>
              </a:rPr>
              <a:t>• </a:t>
            </a:r>
            <a:r>
              <a:rPr lang="ko-KR" altLang="en-US" sz="1500" dirty="0" smtClean="0">
                <a:latin typeface="+mj-ea"/>
                <a:ea typeface="+mj-ea"/>
              </a:rPr>
              <a:t>매칭 </a:t>
            </a:r>
            <a:r>
              <a:rPr lang="ko-KR" altLang="en-US" sz="1500" dirty="0" err="1">
                <a:latin typeface="+mj-ea"/>
                <a:ea typeface="+mj-ea"/>
              </a:rPr>
              <a:t>로직</a:t>
            </a:r>
            <a:r>
              <a:rPr lang="ko-KR" altLang="en-US" sz="1500" dirty="0">
                <a:latin typeface="+mj-ea"/>
                <a:ea typeface="+mj-ea"/>
              </a:rPr>
              <a:t> 한계 </a:t>
            </a:r>
            <a:r>
              <a:rPr lang="en-US" altLang="ko-KR" sz="1500" dirty="0">
                <a:latin typeface="+mj-ea"/>
                <a:ea typeface="+mj-ea"/>
              </a:rPr>
              <a:t>(</a:t>
            </a:r>
            <a:r>
              <a:rPr lang="en-US" altLang="ko-KR" sz="1500" dirty="0" err="1">
                <a:latin typeface="+mj-ea"/>
                <a:ea typeface="+mj-ea"/>
              </a:rPr>
              <a:t>idxmax</a:t>
            </a:r>
            <a:r>
              <a:rPr lang="en-US" altLang="ko-KR" sz="1500" dirty="0">
                <a:latin typeface="+mj-ea"/>
                <a:ea typeface="+mj-ea"/>
              </a:rPr>
              <a:t> </a:t>
            </a:r>
            <a:r>
              <a:rPr lang="ko-KR" altLang="en-US" sz="1500" dirty="0">
                <a:latin typeface="+mj-ea"/>
                <a:ea typeface="+mj-ea"/>
              </a:rPr>
              <a:t>단일 선택</a:t>
            </a:r>
            <a:r>
              <a:rPr lang="en-US" altLang="ko-KR" sz="1500" dirty="0" smtClean="0">
                <a:latin typeface="+mj-ea"/>
                <a:ea typeface="+mj-ea"/>
              </a:rPr>
              <a:t>): </a:t>
            </a:r>
            <a:r>
              <a:rPr lang="ko-KR" altLang="ko-KR" sz="1500" dirty="0">
                <a:latin typeface="+mj-ea"/>
                <a:ea typeface="+mj-ea"/>
              </a:rPr>
              <a:t>TOP1만 강제 </a:t>
            </a:r>
            <a:r>
              <a:rPr lang="ko-KR" altLang="ko-KR" sz="1500" dirty="0" smtClean="0">
                <a:latin typeface="+mj-ea"/>
                <a:ea typeface="+mj-ea"/>
              </a:rPr>
              <a:t>선택</a:t>
            </a:r>
            <a:r>
              <a:rPr lang="en-US" altLang="ko-KR" sz="1500" dirty="0" smtClean="0">
                <a:latin typeface="+mj-ea"/>
                <a:ea typeface="+mj-ea"/>
              </a:rPr>
              <a:t>, </a:t>
            </a:r>
            <a:r>
              <a:rPr lang="ko-KR" altLang="ko-KR" sz="1500" dirty="0" smtClean="0">
                <a:latin typeface="+mj-ea"/>
                <a:ea typeface="+mj-ea"/>
              </a:rPr>
              <a:t>TOP2·TOP3</a:t>
            </a:r>
            <a:r>
              <a:rPr lang="ko-KR" altLang="ko-KR" sz="1500" dirty="0">
                <a:latin typeface="+mj-ea"/>
                <a:ea typeface="+mj-ea"/>
              </a:rPr>
              <a:t>의 상대 확률과 거리 보정이 무시되어 비현실적 배차 발생</a:t>
            </a:r>
          </a:p>
          <a:p>
            <a:pPr marL="0" indent="0">
              <a:buNone/>
            </a:pPr>
            <a:endParaRPr lang="en-US" altLang="ko-KR" sz="16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8. </a:t>
            </a:r>
            <a:r>
              <a:rPr lang="ko-KR" altLang="en-US" sz="3600" dirty="0" err="1">
                <a:latin typeface="+mj-ea"/>
              </a:rPr>
              <a:t>향후계획</a:t>
            </a:r>
            <a:endParaRPr lang="en-US" altLang="ko-KR" sz="3600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sz="1500" dirty="0" smtClean="0">
                <a:latin typeface="+mj-ea"/>
                <a:ea typeface="+mj-ea"/>
              </a:rPr>
              <a:t>1</a:t>
            </a:r>
            <a:r>
              <a:rPr sz="1500" dirty="0">
                <a:latin typeface="+mj-ea"/>
                <a:ea typeface="+mj-ea"/>
              </a:rPr>
              <a:t>. </a:t>
            </a:r>
            <a:r>
              <a:rPr sz="1500" dirty="0" err="1">
                <a:latin typeface="+mj-ea"/>
                <a:ea typeface="+mj-ea"/>
              </a:rPr>
              <a:t>피처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확장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기사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상태</a:t>
            </a:r>
            <a:r>
              <a:rPr sz="1500" dirty="0">
                <a:latin typeface="+mj-ea"/>
                <a:ea typeface="+mj-ea"/>
              </a:rPr>
              <a:t>, </a:t>
            </a:r>
            <a:r>
              <a:rPr sz="1500" dirty="0" err="1">
                <a:latin typeface="+mj-ea"/>
                <a:ea typeface="+mj-ea"/>
              </a:rPr>
              <a:t>차량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종류</a:t>
            </a:r>
            <a:r>
              <a:rPr sz="1500" dirty="0">
                <a:latin typeface="+mj-ea"/>
                <a:ea typeface="+mj-ea"/>
              </a:rPr>
              <a:t>, </a:t>
            </a:r>
            <a:r>
              <a:rPr sz="1500" dirty="0" err="1" smtClean="0">
                <a:latin typeface="+mj-ea"/>
                <a:ea typeface="+mj-ea"/>
              </a:rPr>
              <a:t>도로혼잡도</a:t>
            </a:r>
            <a:r>
              <a:rPr lang="en-US" sz="1500" dirty="0" smtClean="0">
                <a:latin typeface="+mj-ea"/>
                <a:ea typeface="+mj-ea"/>
              </a:rPr>
              <a:t> </a:t>
            </a:r>
            <a:r>
              <a:rPr lang="ko-KR" altLang="en-US" sz="1500" dirty="0" err="1" smtClean="0">
                <a:latin typeface="+mj-ea"/>
                <a:ea typeface="+mj-ea"/>
              </a:rPr>
              <a:t>별점</a:t>
            </a:r>
            <a:r>
              <a:rPr lang="ko-KR" altLang="en-US" sz="1500" dirty="0" smtClean="0">
                <a:latin typeface="+mj-ea"/>
                <a:ea typeface="+mj-ea"/>
              </a:rPr>
              <a:t> 등</a:t>
            </a:r>
            <a:r>
              <a:rPr sz="1500" dirty="0" smtClean="0">
                <a:latin typeface="+mj-ea"/>
                <a:ea typeface="+mj-ea"/>
              </a:rPr>
              <a:t> </a:t>
            </a:r>
            <a:r>
              <a:rPr sz="1500" dirty="0" err="1" smtClean="0">
                <a:latin typeface="+mj-ea"/>
                <a:ea typeface="+mj-ea"/>
              </a:rPr>
              <a:t>반영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sz="1500" dirty="0" smtClean="0">
                <a:latin typeface="+mj-ea"/>
                <a:ea typeface="+mj-ea"/>
              </a:rPr>
              <a:t>2</a:t>
            </a:r>
            <a:r>
              <a:rPr sz="1500" dirty="0">
                <a:latin typeface="+mj-ea"/>
                <a:ea typeface="+mj-ea"/>
              </a:rPr>
              <a:t>. </a:t>
            </a:r>
            <a:r>
              <a:rPr sz="1500" dirty="0" err="1">
                <a:latin typeface="+mj-ea"/>
                <a:ea typeface="+mj-ea"/>
              </a:rPr>
              <a:t>확률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정규화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Softmax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기반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상대확률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 smtClean="0">
                <a:latin typeface="+mj-ea"/>
                <a:ea typeface="+mj-ea"/>
              </a:rPr>
              <a:t>비교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lang="en-US" sz="1500" dirty="0" smtClean="0">
                <a:latin typeface="+mj-ea"/>
                <a:ea typeface="+mj-ea"/>
              </a:rPr>
              <a:t>3</a:t>
            </a:r>
            <a:r>
              <a:rPr sz="1500" dirty="0" smtClean="0">
                <a:latin typeface="+mj-ea"/>
                <a:ea typeface="+mj-ea"/>
              </a:rPr>
              <a:t>. </a:t>
            </a:r>
            <a:r>
              <a:rPr sz="1500" dirty="0" err="1">
                <a:latin typeface="+mj-ea"/>
                <a:ea typeface="+mj-ea"/>
              </a:rPr>
              <a:t>불균형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개선</a:t>
            </a:r>
            <a:r>
              <a:rPr sz="1500" dirty="0">
                <a:latin typeface="+mj-ea"/>
                <a:ea typeface="+mj-ea"/>
              </a:rPr>
              <a:t>: SMOTE / Class Weight / </a:t>
            </a:r>
            <a:r>
              <a:rPr sz="1500" dirty="0" err="1" smtClean="0">
                <a:latin typeface="+mj-ea"/>
                <a:ea typeface="+mj-ea"/>
              </a:rPr>
              <a:t>GroupKFold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lang="en-US" sz="1500" dirty="0" smtClean="0">
                <a:latin typeface="+mj-ea"/>
                <a:ea typeface="+mj-ea"/>
              </a:rPr>
              <a:t>4</a:t>
            </a:r>
            <a:r>
              <a:rPr sz="1500" dirty="0" smtClean="0">
                <a:latin typeface="+mj-ea"/>
                <a:ea typeface="+mj-ea"/>
              </a:rPr>
              <a:t>. </a:t>
            </a:r>
            <a:r>
              <a:rPr sz="1500" dirty="0" err="1">
                <a:latin typeface="+mj-ea"/>
                <a:ea typeface="+mj-ea"/>
              </a:rPr>
              <a:t>모델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고도화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XGBRanker</a:t>
            </a:r>
            <a:r>
              <a:rPr sz="1500" dirty="0">
                <a:latin typeface="+mj-ea"/>
                <a:ea typeface="+mj-ea"/>
              </a:rPr>
              <a:t>, </a:t>
            </a:r>
            <a:r>
              <a:rPr sz="1500" dirty="0" err="1">
                <a:latin typeface="+mj-ea"/>
                <a:ea typeface="+mj-ea"/>
              </a:rPr>
              <a:t>LightGBM</a:t>
            </a:r>
            <a:r>
              <a:rPr sz="1500" dirty="0">
                <a:latin typeface="+mj-ea"/>
                <a:ea typeface="+mj-ea"/>
              </a:rPr>
              <a:t> Ranker, </a:t>
            </a:r>
            <a:r>
              <a:rPr sz="1500" dirty="0" err="1">
                <a:latin typeface="+mj-ea"/>
                <a:ea typeface="+mj-ea"/>
              </a:rPr>
              <a:t>CatBoost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 smtClean="0">
                <a:latin typeface="+mj-ea"/>
                <a:ea typeface="+mj-ea"/>
              </a:rPr>
              <a:t>적용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lang="en-US" sz="1500" dirty="0" smtClean="0">
                <a:latin typeface="+mj-ea"/>
                <a:ea typeface="+mj-ea"/>
              </a:rPr>
              <a:t>5</a:t>
            </a:r>
            <a:r>
              <a:rPr sz="1500" dirty="0" smtClean="0">
                <a:latin typeface="+mj-ea"/>
                <a:ea typeface="+mj-ea"/>
              </a:rPr>
              <a:t>. </a:t>
            </a:r>
            <a:r>
              <a:rPr sz="1500" dirty="0" err="1">
                <a:latin typeface="+mj-ea"/>
                <a:ea typeface="+mj-ea"/>
              </a:rPr>
              <a:t>실시간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피드백</a:t>
            </a:r>
            <a:r>
              <a:rPr sz="1500" dirty="0">
                <a:latin typeface="+mj-ea"/>
                <a:ea typeface="+mj-ea"/>
              </a:rPr>
              <a:t>: </a:t>
            </a:r>
            <a:r>
              <a:rPr sz="1500" dirty="0" err="1">
                <a:latin typeface="+mj-ea"/>
                <a:ea typeface="+mj-ea"/>
              </a:rPr>
              <a:t>실제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매칭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성공</a:t>
            </a:r>
            <a:r>
              <a:rPr sz="1500" dirty="0">
                <a:latin typeface="+mj-ea"/>
                <a:ea typeface="+mj-ea"/>
              </a:rPr>
              <a:t>/</a:t>
            </a:r>
            <a:r>
              <a:rPr sz="1500" dirty="0" err="1">
                <a:latin typeface="+mj-ea"/>
                <a:ea typeface="+mj-ea"/>
              </a:rPr>
              <a:t>실패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>
                <a:latin typeface="+mj-ea"/>
                <a:ea typeface="+mj-ea"/>
              </a:rPr>
              <a:t>로그로</a:t>
            </a:r>
            <a:r>
              <a:rPr sz="1500" dirty="0">
                <a:latin typeface="+mj-ea"/>
                <a:ea typeface="+mj-ea"/>
              </a:rPr>
              <a:t> </a:t>
            </a:r>
            <a:r>
              <a:rPr sz="1500" dirty="0" err="1" smtClean="0">
                <a:latin typeface="+mj-ea"/>
                <a:ea typeface="+mj-ea"/>
              </a:rPr>
              <a:t>재학습</a:t>
            </a:r>
            <a:endParaRPr lang="en-US" sz="1500" dirty="0" smtClean="0">
              <a:latin typeface="+mj-ea"/>
              <a:ea typeface="+mj-ea"/>
            </a:endParaRPr>
          </a:p>
          <a:p>
            <a:pPr marL="0" indent="0">
              <a:buNone/>
            </a:pPr>
            <a:endParaRPr lang="en-US" sz="15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500" dirty="0">
                <a:latin typeface="+mj-ea"/>
                <a:ea typeface="+mj-ea"/>
              </a:rPr>
              <a:t>• </a:t>
            </a:r>
            <a:r>
              <a:rPr lang="en-US" sz="1500" dirty="0" smtClean="0">
                <a:latin typeface="+mj-ea"/>
                <a:ea typeface="+mj-ea"/>
              </a:rPr>
              <a:t>6. </a:t>
            </a:r>
            <a:r>
              <a:rPr lang="ko-KR" altLang="en-US" sz="1500" dirty="0" smtClean="0">
                <a:latin typeface="+mj-ea"/>
                <a:ea typeface="+mj-ea"/>
              </a:rPr>
              <a:t>결제시스템 도입</a:t>
            </a:r>
            <a:endParaRPr sz="15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+mj-ea"/>
              </a:rPr>
              <a:t>9. </a:t>
            </a:r>
            <a:r>
              <a:rPr lang="ko-KR" altLang="en-US" sz="3600" dirty="0" smtClean="0">
                <a:latin typeface="+mj-ea"/>
              </a:rPr>
              <a:t>출처</a:t>
            </a:r>
            <a:endParaRPr sz="3600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 smtClean="0">
                <a:latin typeface="+mj-ea"/>
                <a:ea typeface="+mj-ea"/>
              </a:rPr>
              <a:t>Hugging Face: </a:t>
            </a:r>
            <a:r>
              <a:rPr lang="en-US" sz="1500" dirty="0" smtClean="0">
                <a:latin typeface="+mj-ea"/>
                <a:ea typeface="+mj-ea"/>
                <a:hlinkClick r:id="rId2"/>
              </a:rPr>
              <a:t>https</a:t>
            </a:r>
            <a:r>
              <a:rPr lang="en-US" sz="1500" dirty="0">
                <a:latin typeface="+mj-ea"/>
                <a:ea typeface="+mj-ea"/>
                <a:hlinkClick r:id="rId2"/>
              </a:rPr>
              <a:t>://</a:t>
            </a:r>
            <a:r>
              <a:rPr lang="en-US" sz="1500" dirty="0" smtClean="0">
                <a:latin typeface="+mj-ea"/>
                <a:ea typeface="+mj-ea"/>
                <a:hlinkClick r:id="rId2"/>
              </a:rPr>
              <a:t>huggingface.co/datasets/Cainiao-AI/LaDe/tree/main</a:t>
            </a:r>
            <a:r>
              <a:rPr lang="en-US" sz="1500" dirty="0" smtClean="0">
                <a:latin typeface="+mj-ea"/>
                <a:ea typeface="+mj-ea"/>
              </a:rPr>
              <a:t> (</a:t>
            </a:r>
            <a:r>
              <a:rPr lang="en-US" sz="1500" dirty="0" err="1" smtClean="0">
                <a:latin typeface="+mj-ea"/>
                <a:ea typeface="+mj-ea"/>
              </a:rPr>
              <a:t>Cainiao</a:t>
            </a:r>
            <a:r>
              <a:rPr lang="en-US" sz="1500" dirty="0" smtClean="0">
                <a:latin typeface="+mj-ea"/>
                <a:ea typeface="+mj-ea"/>
              </a:rPr>
              <a:t>-AI/</a:t>
            </a:r>
            <a:r>
              <a:rPr lang="en-US" sz="1500" dirty="0" err="1" smtClean="0">
                <a:latin typeface="+mj-ea"/>
                <a:ea typeface="+mj-ea"/>
              </a:rPr>
              <a:t>LaDe</a:t>
            </a:r>
            <a:r>
              <a:rPr lang="en-US" sz="1500" dirty="0" smtClean="0">
                <a:latin typeface="+mj-ea"/>
                <a:ea typeface="+mj-ea"/>
              </a:rPr>
              <a:t>)</a:t>
            </a:r>
            <a:endParaRPr sz="15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600" dirty="0" smtClean="0">
                <a:latin typeface="+mj-ea"/>
                <a:ea typeface="+mj-ea"/>
              </a:rPr>
              <a:t>                   </a:t>
            </a:r>
            <a:r>
              <a:rPr lang="en-US" altLang="ko-KR" dirty="0" smtClean="0">
                <a:latin typeface="+mj-ea"/>
                <a:ea typeface="+mj-ea"/>
              </a:rPr>
              <a:t> </a:t>
            </a:r>
            <a:r>
              <a:rPr lang="en-US" altLang="ko-KR" sz="900" dirty="0" smtClean="0">
                <a:latin typeface="+mj-ea"/>
                <a:ea typeface="+mj-ea"/>
              </a:rPr>
              <a:t>    </a:t>
            </a:r>
            <a:r>
              <a:rPr lang="en-US" altLang="ko-KR" sz="3600" dirty="0" smtClean="0">
                <a:latin typeface="+mj-ea"/>
                <a:ea typeface="+mj-ea"/>
              </a:rPr>
              <a:t>-</a:t>
            </a:r>
            <a:r>
              <a:rPr lang="en-US" altLang="ko-KR" sz="2400" dirty="0" smtClean="0">
                <a:latin typeface="+mj-ea"/>
                <a:ea typeface="+mj-ea"/>
              </a:rPr>
              <a:t> </a:t>
            </a:r>
            <a:r>
              <a:rPr lang="en-US" altLang="ko-KR" sz="3600" dirty="0" smtClean="0">
                <a:latin typeface="+mj-ea"/>
                <a:ea typeface="+mj-ea"/>
              </a:rPr>
              <a:t>End</a:t>
            </a:r>
            <a:r>
              <a:rPr lang="en-US" altLang="ko-KR" sz="2400" dirty="0" smtClean="0">
                <a:latin typeface="+mj-ea"/>
                <a:ea typeface="+mj-ea"/>
              </a:rPr>
              <a:t> </a:t>
            </a:r>
            <a:r>
              <a:rPr lang="en-US" altLang="ko-KR" sz="3600" dirty="0" smtClean="0">
                <a:latin typeface="+mj-ea"/>
                <a:ea typeface="+mj-ea"/>
              </a:rPr>
              <a:t>-              </a:t>
            </a:r>
            <a:endParaRPr lang="ko-KR" altLang="en-US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37144935"/>
      </p:ext>
    </p:extLst>
  </p:cSld>
  <p:clrMapOvr>
    <a:masterClrMapping/>
  </p:clrMapOvr>
</p:sld>
</file>

<file path=ppt/theme/theme1.xml><?xml version="1.0" encoding="utf-8"?>
<a:theme xmlns:a="http://schemas.openxmlformats.org/drawingml/2006/main" name="New_Education02">
  <a:themeElements>
    <a:clrScheme name="Education02">
      <a:dk1>
        <a:srgbClr val="000000"/>
      </a:dk1>
      <a:lt1>
        <a:srgbClr val="FFFFFF"/>
      </a:lt1>
      <a:dk2>
        <a:srgbClr val="006699"/>
      </a:dk2>
      <a:lt2>
        <a:srgbClr val="ECF0ED"/>
      </a:lt2>
      <a:accent1>
        <a:srgbClr val="DF3939"/>
      </a:accent1>
      <a:accent2>
        <a:srgbClr val="F0A73C"/>
      </a:accent2>
      <a:accent3>
        <a:srgbClr val="21A6C5"/>
      </a:accent3>
      <a:accent4>
        <a:srgbClr val="BEC936"/>
      </a:accent4>
      <a:accent5>
        <a:srgbClr val="ECB0B0"/>
      </a:accent5>
      <a:accent6>
        <a:srgbClr val="C1C1C1"/>
      </a:accent6>
      <a:hlink>
        <a:srgbClr val="0099CC"/>
      </a:hlink>
      <a:folHlink>
        <a:srgbClr val="D361AA"/>
      </a:folHlink>
    </a:clrScheme>
    <a:fontScheme name="Education02">
      <a:majorFont>
        <a:latin typeface="Corbel"/>
        <a:ea typeface=""/>
        <a:cs typeface=""/>
        <a:font script="Jpan" typeface="HG丸ｺﾞｼｯｸM-PRO"/>
        <a:font script="Hang" typeface="맑은 고딕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ducation02">
      <a:fillStyleLst>
        <a:solidFill>
          <a:schemeClr val="phClr"/>
        </a:solidFill>
        <a:solidFill>
          <a:schemeClr val="phClr">
            <a:tint val="60000"/>
            <a:satMod val="150000"/>
          </a:schemeClr>
        </a:solidFill>
        <a:gradFill rotWithShape="1">
          <a:gsLst>
            <a:gs pos="0">
              <a:schemeClr val="phClr">
                <a:shade val="100000"/>
                <a:satMod val="100000"/>
              </a:schemeClr>
            </a:gs>
            <a:gs pos="100000">
              <a:schemeClr val="phClr">
                <a:shade val="70000"/>
                <a:satMod val="1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innerShdw blurRad="127000" dist="25400" dir="13500000">
              <a:srgbClr val="000000">
                <a:alpha val="80000"/>
              </a:srgbClr>
            </a:innerShdw>
          </a:effectLst>
        </a:effectStyle>
        <a:effectStyle>
          <a:effectLst>
            <a:innerShdw blurRad="254000" dist="25400" dir="13500000">
              <a:srgbClr val="000000">
                <a:alpha val="80000"/>
              </a:srgbClr>
            </a:innerShdw>
          </a:effectLst>
        </a:effectStyle>
        <a:effectStyle>
          <a:effectLst>
            <a:outerShdw blurRad="50800" dist="508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soft" dir="b">
              <a:rot lat="0" lon="0" rev="9000000"/>
            </a:lightRig>
          </a:scene3d>
          <a:sp3d contourW="35560" prstMaterial="matte">
            <a:bevelT w="4445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20000"/>
              </a:schemeClr>
            </a:gs>
            <a:gs pos="100000">
              <a:schemeClr val="phClr">
                <a:tint val="70000"/>
                <a:shade val="100000"/>
                <a:satMod val="3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8000"/>
                <a:satMod val="200000"/>
              </a:schemeClr>
            </a:gs>
            <a:gs pos="100000">
              <a:schemeClr val="phClr">
                <a:shade val="86000"/>
                <a:satMod val="140000"/>
                <a:lumMod val="90000"/>
              </a:schemeClr>
            </a:gs>
          </a:gsLst>
          <a:lin ang="33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TM10237559[[fn=교육 테마]]</Template>
  <TotalTime>208</TotalTime>
  <Words>528</Words>
  <Application>Microsoft Office PowerPoint</Application>
  <PresentationFormat>화면 슬라이드 쇼(4:3)</PresentationFormat>
  <Paragraphs>102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HY그래픽M</vt:lpstr>
      <vt:lpstr>맑은 고딕</vt:lpstr>
      <vt:lpstr>Arial</vt:lpstr>
      <vt:lpstr>Candara</vt:lpstr>
      <vt:lpstr>Corbel</vt:lpstr>
      <vt:lpstr>Wingdings 3</vt:lpstr>
      <vt:lpstr>New_Education02</vt:lpstr>
      <vt:lpstr>화물 기사 자동 매칭 시스템 (XGBoost 기반 예측 모델)</vt:lpstr>
      <vt:lpstr>목차</vt:lpstr>
      <vt:lpstr>1. 개요</vt:lpstr>
      <vt:lpstr>2. 데이터 구조</vt:lpstr>
      <vt:lpstr>3. 전처리 과정</vt:lpstr>
      <vt:lpstr>4. 모델 구조 및 파라미터</vt:lpstr>
      <vt:lpstr>5. 모델 학습 결과</vt:lpstr>
      <vt:lpstr>6. 매칭결과 (예측 및 배차)</vt:lpstr>
      <vt:lpstr>7. 원인분석</vt:lpstr>
      <vt:lpstr>8. 향후계획</vt:lpstr>
      <vt:lpstr>9. 출처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화물 기사 자동 매칭 시스템 (XGBoost 기반 예측 모델)</dc:title>
  <dc:subject/>
  <dc:creator>손용락</dc:creator>
  <cp:keywords/>
  <dc:description>generated using python-pptx</dc:description>
  <cp:lastModifiedBy>Administrator</cp:lastModifiedBy>
  <cp:revision>44</cp:revision>
  <dcterms:created xsi:type="dcterms:W3CDTF">2013-01-27T09:14:16Z</dcterms:created>
  <dcterms:modified xsi:type="dcterms:W3CDTF">2025-10-16T13:42:49Z</dcterms:modified>
  <cp:category/>
</cp:coreProperties>
</file>